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7" r:id="rId6"/>
    <p:sldId id="260" r:id="rId7"/>
    <p:sldId id="261" r:id="rId8"/>
    <p:sldId id="262" r:id="rId9"/>
    <p:sldId id="263" r:id="rId10"/>
    <p:sldId id="268" r:id="rId11"/>
    <p:sldId id="269" r:id="rId12"/>
    <p:sldId id="264" r:id="rId13"/>
    <p:sldId id="265" r:id="rId14"/>
    <p:sldId id="266" r:id="rId1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95" autoAdjust="0"/>
    <p:restoredTop sz="50652" autoAdjust="0"/>
  </p:normalViewPr>
  <p:slideViewPr>
    <p:cSldViewPr snapToGrid="0" snapToObjects="1">
      <p:cViewPr>
        <p:scale>
          <a:sx n="115" d="100"/>
          <a:sy n="115" d="100"/>
        </p:scale>
        <p:origin x="528" y="-16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75DF8E-1341-B84B-9543-19A6DF9A9A7C}" type="datetimeFigureOut">
              <a:rPr lang="en-CN" smtClean="0"/>
              <a:t>2025/12/8</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F24F33-4357-4941-996E-61D46A5A1D1D}" type="slidenum">
              <a:rPr lang="en-CN" smtClean="0"/>
              <a:t>‹#›</a:t>
            </a:fld>
            <a:endParaRPr lang="en-CN"/>
          </a:p>
        </p:txBody>
      </p:sp>
    </p:spTree>
    <p:extLst>
      <p:ext uri="{BB962C8B-B14F-4D97-AF65-F5344CB8AC3E}">
        <p14:creationId xmlns:p14="http://schemas.microsoft.com/office/powerpoint/2010/main" val="3284533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4FF24F33-4357-4941-996E-61D46A5A1D1D}" type="slidenum">
              <a:rPr lang="en-CN" smtClean="0"/>
              <a:t>1</a:t>
            </a:fld>
            <a:endParaRPr lang="en-CN"/>
          </a:p>
        </p:txBody>
      </p:sp>
    </p:spTree>
    <p:extLst>
      <p:ext uri="{BB962C8B-B14F-4D97-AF65-F5344CB8AC3E}">
        <p14:creationId xmlns:p14="http://schemas.microsoft.com/office/powerpoint/2010/main" val="1626219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4FF24F33-4357-4941-996E-61D46A5A1D1D}" type="slidenum">
              <a:rPr lang="en-CN" smtClean="0"/>
              <a:t>2</a:t>
            </a:fld>
            <a:endParaRPr lang="en-CN"/>
          </a:p>
        </p:txBody>
      </p:sp>
    </p:spTree>
    <p:extLst>
      <p:ext uri="{BB962C8B-B14F-4D97-AF65-F5344CB8AC3E}">
        <p14:creationId xmlns:p14="http://schemas.microsoft.com/office/powerpoint/2010/main" val="26934111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br>
                  <a:rPr lang="en-US" dirty="0"/>
                </a:br>
                <a:endParaRPr lang="en-US" dirty="0"/>
              </a:p>
              <a:p>
                <a:endParaRPr lang="en-CN" dirty="0"/>
              </a:p>
            </p:txBody>
          </p:sp>
        </mc:Choice>
        <mc:Fallback xmlns="">
          <p:sp>
            <p:nvSpPr>
              <p:cNvPr id="3" name="Notes Placeholder 2"/>
              <p:cNvSpPr>
                <a:spLocks noGrp="1"/>
              </p:cNvSpPr>
              <p:nvPr>
                <p:ph type="body" idx="1"/>
              </p:nvPr>
            </p:nvSpPr>
            <p:spPr/>
            <p:txBody>
              <a:bodyPr/>
              <a:lstStyle/>
              <a:p>
                <a:r>
                  <a:rPr lang="en-US" dirty="0"/>
                  <a:t>Stability selection, is designed to evaluate how </a:t>
                </a:r>
                <a:r>
                  <a:rPr lang="en-US" i="1" dirty="0"/>
                  <a:t>consistently</a:t>
                </a:r>
                <a:r>
                  <a:rPr lang="en-US" dirty="0"/>
                  <a:t> each variable is selected. Instead of trusting a single Lasso fit, it looks at many subsamples and checks how often each variable enters the model.”</a:t>
                </a:r>
              </a:p>
              <a:p>
                <a:r>
                  <a:rPr lang="en-US" dirty="0"/>
                  <a:t>“This is especially important in situations where Lasso behaves unpredictably — for example when the sample size is small relative to the number of predictors, or when </a:t>
                </a:r>
                <a:r>
                  <a:rPr lang="en-US" sz="1200" i="0" kern="1200">
                    <a:solidFill>
                      <a:schemeClr val="tx1"/>
                    </a:solidFill>
                    <a:latin typeface="+mn-lt"/>
                    <a:ea typeface="+mn-ea"/>
                    <a:cs typeface="+mn-cs"/>
                  </a:rPr>
                  <a:t>𝑝</a:t>
                </a:r>
                <a:r>
                  <a:rPr lang="en-US" sz="1200" b="0" i="0" kern="1200">
                    <a:solidFill>
                      <a:schemeClr val="tx1"/>
                    </a:solidFill>
                    <a:latin typeface="Cambria Math" panose="02040503050406030204" pitchFamily="18" charset="0"/>
                    <a:ea typeface="+mn-ea"/>
                    <a:cs typeface="+mn-cs"/>
                  </a:rPr>
                  <a:t> </a:t>
                </a:r>
                <a:r>
                  <a:rPr lang="en-US" dirty="0"/>
                  <a:t>is much larger than </a:t>
                </a:r>
                <a:r>
                  <a:rPr lang="en-US" sz="1200" i="0" kern="1200">
                    <a:solidFill>
                      <a:schemeClr val="tx1"/>
                    </a:solidFill>
                    <a:latin typeface="+mn-lt"/>
                    <a:ea typeface="+mn-ea"/>
                    <a:cs typeface="+mn-cs"/>
                  </a:rPr>
                  <a:t>𝑛</a:t>
                </a:r>
                <a:r>
                  <a:rPr lang="en-US" dirty="0"/>
                  <a:t>. In these cases, regularization paths become erratic and highly sensitive to noise.”</a:t>
                </a:r>
              </a:p>
              <a:p>
                <a:r>
                  <a:rPr lang="en-US" dirty="0"/>
                  <a:t>“Stability selection is also useful when classical regression assumptions are violated — for instance, when predictors are correlated, when variances differ across variables, or when the design matrix is far from ideal. Under these imperfections, Lasso may pick different variables on each fit, but stability selection averages across many fits to reveal truly persistent signals.”</a:t>
                </a:r>
              </a:p>
              <a:p>
                <a:r>
                  <a:rPr lang="en-US" dirty="0"/>
                  <a:t>“Overall, this technique helps obtain a more </a:t>
                </a:r>
                <a:r>
                  <a:rPr lang="en-US" i="1" dirty="0"/>
                  <a:t>robust</a:t>
                </a:r>
                <a:r>
                  <a:rPr lang="en-US" dirty="0"/>
                  <a:t> and </a:t>
                </a:r>
                <a:r>
                  <a:rPr lang="en-US" i="1" dirty="0"/>
                  <a:t>interpretable</a:t>
                </a:r>
                <a:r>
                  <a:rPr lang="en-US" dirty="0"/>
                  <a:t> set of variables by leveraging consistency across subsamples.”</a:t>
                </a:r>
              </a:p>
              <a:p>
                <a:br>
                  <a:rPr lang="en-US" dirty="0"/>
                </a:br>
                <a:endParaRPr lang="en-US" dirty="0"/>
              </a:p>
              <a:p>
                <a:endParaRPr lang="en-CN" dirty="0"/>
              </a:p>
            </p:txBody>
          </p:sp>
        </mc:Fallback>
      </mc:AlternateContent>
      <p:sp>
        <p:nvSpPr>
          <p:cNvPr id="4" name="Slide Number Placeholder 3"/>
          <p:cNvSpPr>
            <a:spLocks noGrp="1"/>
          </p:cNvSpPr>
          <p:nvPr>
            <p:ph type="sldNum" sz="quarter" idx="5"/>
          </p:nvPr>
        </p:nvSpPr>
        <p:spPr/>
        <p:txBody>
          <a:bodyPr/>
          <a:lstStyle/>
          <a:p>
            <a:fld id="{4FF24F33-4357-4941-996E-61D46A5A1D1D}" type="slidenum">
              <a:rPr lang="en-CN" smtClean="0"/>
              <a:t>3</a:t>
            </a:fld>
            <a:endParaRPr lang="en-CN"/>
          </a:p>
        </p:txBody>
      </p:sp>
    </p:spTree>
    <p:extLst>
      <p:ext uri="{BB962C8B-B14F-4D97-AF65-F5344CB8AC3E}">
        <p14:creationId xmlns:p14="http://schemas.microsoft.com/office/powerpoint/2010/main" val="321947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br>
                  <a:rPr lang="en-US" dirty="0"/>
                </a:br>
                <a:endParaRPr lang="en-US" dirty="0"/>
              </a:p>
              <a:p>
                <a:endParaRPr lang="en-CN" dirty="0"/>
              </a:p>
            </p:txBody>
          </p:sp>
        </mc:Choice>
        <mc:Fallback xmlns="">
          <p:sp>
            <p:nvSpPr>
              <p:cNvPr id="3" name="Notes Placeholder 2"/>
              <p:cNvSpPr>
                <a:spLocks noGrp="1"/>
              </p:cNvSpPr>
              <p:nvPr>
                <p:ph type="body" idx="1"/>
              </p:nvPr>
            </p:nvSpPr>
            <p:spPr/>
            <p:txBody>
              <a:bodyPr/>
              <a:lstStyle/>
              <a:p>
                <a:r>
                  <a:rPr lang="en-US" dirty="0"/>
                  <a:t>“To control the overall complexity of the models we examine, we define</a:t>
                </a:r>
                <a:br>
                  <a:rPr lang="en-US" dirty="0"/>
                </a:br>
                <a:r>
                  <a:rPr lang="en-US" sz="1200" i="0" kern="1200">
                    <a:solidFill>
                      <a:schemeClr val="tx1"/>
                    </a:solidFill>
                    <a:latin typeface="+mn-lt"/>
                    <a:ea typeface="+mn-ea"/>
                    <a:cs typeface="+mn-cs"/>
                  </a:rPr>
                  <a:t>𝑞=</a:t>
                </a:r>
                <a:r>
                  <a:rPr lang="ar-AE" sz="1200" i="0" kern="1200">
                    <a:solidFill>
                      <a:schemeClr val="tx1"/>
                    </a:solidFill>
                    <a:latin typeface="+mn-lt"/>
                    <a:ea typeface="+mn-ea"/>
                    <a:cs typeface="+mn-cs"/>
                  </a:rPr>
                  <a:t>√0.8𝑝</a:t>
                </a:r>
                <a:r>
                  <a:rPr lang="ar-AE" dirty="0"/>
                  <a:t>.</a:t>
                </a:r>
                <a:br>
                  <a:rPr lang="ar-AE" dirty="0"/>
                </a:br>
                <a:r>
                  <a:rPr lang="en-US" dirty="0"/>
                  <a:t>an upper bound on how many variables are allowed to enter the model at any point along the regularization path.”</a:t>
                </a:r>
              </a:p>
              <a:p>
                <a:r>
                  <a:rPr lang="en-US" dirty="0"/>
                  <a:t>“Next, we construct the regularization region</a:t>
                </a:r>
                <a:br>
                  <a:rPr lang="en-US" dirty="0"/>
                </a:br>
                <a:r>
                  <a:rPr lang="el-GR" sz="1200" i="0" kern="1200">
                    <a:solidFill>
                      <a:schemeClr val="tx1"/>
                    </a:solidFill>
                    <a:latin typeface="+mn-lt"/>
                    <a:ea typeface="+mn-ea"/>
                    <a:cs typeface="+mn-cs"/>
                  </a:rPr>
                  <a:t>Λ=</a:t>
                </a:r>
                <a:r>
                  <a:rPr lang="ar-AE" sz="1200" i="0" kern="1200">
                    <a:solidFill>
                      <a:schemeClr val="tx1"/>
                    </a:solidFill>
                    <a:latin typeface="+mn-lt"/>
                    <a:ea typeface="+mn-ea"/>
                    <a:cs typeface="+mn-cs"/>
                  </a:rPr>
                  <a:t>{𝜆_1ⓜ,𝜆_2ⓜ,…ⓜ,𝜆_ℓ }</a:t>
                </a:r>
                <a:r>
                  <a:rPr lang="ar-AE" dirty="0"/>
                  <a:t>.</a:t>
                </a:r>
                <a:br>
                  <a:rPr lang="ar-AE" dirty="0"/>
                </a:br>
                <a:r>
                  <a:rPr lang="en-US" dirty="0"/>
                  <a:t>This region is chosen so that at every </a:t>
                </a:r>
                <a:r>
                  <a:rPr lang="en-US" sz="1200" i="0" kern="1200">
                    <a:solidFill>
                      <a:schemeClr val="tx1"/>
                    </a:solidFill>
                    <a:latin typeface="+mn-lt"/>
                    <a:ea typeface="+mn-ea"/>
                    <a:cs typeface="+mn-cs"/>
                  </a:rPr>
                  <a:t>𝜆∈</a:t>
                </a:r>
                <a:r>
                  <a:rPr lang="el-GR" sz="1200" i="0" kern="1200">
                    <a:solidFill>
                      <a:schemeClr val="tx1"/>
                    </a:solidFill>
                    <a:latin typeface="+mn-lt"/>
                    <a:ea typeface="+mn-ea"/>
                    <a:cs typeface="+mn-cs"/>
                  </a:rPr>
                  <a:t>Λ</a:t>
                </a:r>
                <a:r>
                  <a:rPr lang="el-GR" dirty="0"/>
                  <a:t>, </a:t>
                </a:r>
                <a:r>
                  <a:rPr lang="en-US" dirty="0"/>
                  <a:t>the number of selected variables satisfies</a:t>
                </a:r>
                <a:br>
                  <a:rPr lang="en-US" dirty="0"/>
                </a:br>
                <a:r>
                  <a:rPr lang="en-US" sz="1200" i="0" kern="1200">
                    <a:solidFill>
                      <a:schemeClr val="tx1"/>
                    </a:solidFill>
                    <a:latin typeface="+mn-lt"/>
                    <a:ea typeface="+mn-ea"/>
                    <a:cs typeface="+mn-cs"/>
                  </a:rPr>
                  <a:t>∣</a:t>
                </a:r>
                <a:r>
                  <a:rPr lang="ar-AE" sz="1200" i="0" kern="1200">
                    <a:solidFill>
                      <a:schemeClr val="tx1"/>
                    </a:solidFill>
                    <a:latin typeface="+mn-lt"/>
                    <a:ea typeface="+mn-ea"/>
                    <a:cs typeface="+mn-cs"/>
                  </a:rPr>
                  <a:t>𝑆^𝜆∣≤𝑞</a:t>
                </a:r>
                <a:r>
                  <a:rPr lang="ar-AE" dirty="0"/>
                  <a:t>.</a:t>
                </a:r>
                <a:br>
                  <a:rPr lang="ar-AE" dirty="0"/>
                </a:br>
                <a:r>
                  <a:rPr lang="en-US" dirty="0"/>
                  <a:t>In other words, across all levels of penalization, the model never becomes too dense.”</a:t>
                </a:r>
              </a:p>
              <a:p>
                <a:r>
                  <a:rPr lang="en-US" dirty="0"/>
                  <a:t>Next, we generate </a:t>
                </a:r>
                <a:r>
                  <a:rPr lang="en-US" sz="1200" i="0" kern="1200">
                    <a:solidFill>
                      <a:schemeClr val="tx1"/>
                    </a:solidFill>
                    <a:latin typeface="+mn-lt"/>
                    <a:ea typeface="+mn-ea"/>
                    <a:cs typeface="+mn-cs"/>
                  </a:rPr>
                  <a:t>𝐵</a:t>
                </a:r>
                <a:r>
                  <a:rPr lang="en-US" dirty="0"/>
                  <a:t>subsamples. For each subsample indexed by </a:t>
                </a:r>
                <a:r>
                  <a:rPr lang="en-US" sz="1200" i="0" kern="1200">
                    <a:solidFill>
                      <a:schemeClr val="tx1"/>
                    </a:solidFill>
                    <a:latin typeface="+mn-lt"/>
                    <a:ea typeface="+mn-ea"/>
                    <a:cs typeface="+mn-cs"/>
                  </a:rPr>
                  <a:t>𝑏=1,…,𝐵</a:t>
                </a:r>
                <a:r>
                  <a:rPr lang="en-US" dirty="0"/>
                  <a:t>, we draw half of the observations without replacement, so</a:t>
                </a:r>
                <a:br>
                  <a:rPr lang="en-US" dirty="0"/>
                </a:br>
                <a:r>
                  <a:rPr lang="ar-AE" sz="1200" i="0" kern="1200">
                    <a:solidFill>
                      <a:schemeClr val="tx1"/>
                    </a:solidFill>
                    <a:latin typeface="+mn-lt"/>
                    <a:ea typeface="+mn-ea"/>
                    <a:cs typeface="+mn-cs"/>
                  </a:rPr>
                  <a:t>𝐼_𝑏⊂{1ⓜ,…ⓜ,𝑛}</a:t>
                </a:r>
                <a:r>
                  <a:rPr lang="en-US" dirty="0"/>
                  <a:t>with </a:t>
                </a:r>
                <a:r>
                  <a:rPr lang="en-US" sz="1200" i="0" kern="1200">
                    <a:solidFill>
                      <a:schemeClr val="tx1"/>
                    </a:solidFill>
                    <a:latin typeface="+mn-lt"/>
                    <a:ea typeface="+mn-ea"/>
                    <a:cs typeface="+mn-cs"/>
                  </a:rPr>
                  <a:t>∣</a:t>
                </a:r>
                <a:r>
                  <a:rPr lang="ar-AE" sz="1200" i="0" kern="1200">
                    <a:solidFill>
                      <a:schemeClr val="tx1"/>
                    </a:solidFill>
                    <a:latin typeface="+mn-lt"/>
                    <a:ea typeface="+mn-ea"/>
                    <a:cs typeface="+mn-cs"/>
                  </a:rPr>
                  <a:t>𝐼_𝑏∣=𝑛/2</a:t>
                </a:r>
                <a:r>
                  <a:rPr lang="ar-AE" dirty="0"/>
                  <a:t>.”</a:t>
                </a:r>
              </a:p>
              <a:p>
                <a:r>
                  <a:rPr lang="ar-AE" dirty="0"/>
                  <a:t>“</a:t>
                </a:r>
                <a:r>
                  <a:rPr lang="en-US" dirty="0"/>
                  <a:t>We then construct subsampled data matrices</a:t>
                </a:r>
                <a:br>
                  <a:rPr lang="en-US" dirty="0"/>
                </a:br>
                <a:r>
                  <a:rPr lang="ar-AE" sz="1200" i="0" kern="1200">
                    <a:solidFill>
                      <a:schemeClr val="tx1"/>
                    </a:solidFill>
                    <a:latin typeface="+mn-lt"/>
                    <a:ea typeface="+mn-ea"/>
                    <a:cs typeface="+mn-cs"/>
                  </a:rPr>
                  <a:t>𝑋^((𝑏) )=𝑋_(𝐼_𝑏 )</a:t>
                </a:r>
                <a:r>
                  <a:rPr lang="en-US" dirty="0"/>
                  <a:t>and </a:t>
                </a:r>
                <a:r>
                  <a:rPr lang="ar-AE" sz="1200" i="0" kern="1200">
                    <a:solidFill>
                      <a:schemeClr val="tx1"/>
                    </a:solidFill>
                    <a:latin typeface="+mn-lt"/>
                    <a:ea typeface="+mn-ea"/>
                    <a:cs typeface="+mn-cs"/>
                  </a:rPr>
                  <a:t>𝑦^((𝑏) )=𝑦_(𝐼_𝑏 )</a:t>
                </a:r>
                <a:r>
                  <a:rPr lang="ar-AE" dirty="0"/>
                  <a:t>,</a:t>
                </a:r>
                <a:br>
                  <a:rPr lang="ar-AE" dirty="0"/>
                </a:br>
                <a:r>
                  <a:rPr lang="en-US" dirty="0"/>
                  <a:t>and apply the variable-selection method</a:t>
                </a:r>
                <a:r>
                  <a:rPr lang="en-US" baseline="0" dirty="0"/>
                  <a:t> </a:t>
                </a:r>
                <a:r>
                  <a:rPr lang="en-US" dirty="0"/>
                  <a:t>independently on each subsample.”</a:t>
                </a:r>
              </a:p>
              <a:p>
                <a:br>
                  <a:rPr lang="en-US" dirty="0"/>
                </a:br>
                <a:endParaRPr lang="en-US" dirty="0"/>
              </a:p>
              <a:p>
                <a:endParaRPr lang="en-CN" dirty="0"/>
              </a:p>
            </p:txBody>
          </p:sp>
        </mc:Fallback>
      </mc:AlternateContent>
      <p:sp>
        <p:nvSpPr>
          <p:cNvPr id="4" name="Slide Number Placeholder 3"/>
          <p:cNvSpPr>
            <a:spLocks noGrp="1"/>
          </p:cNvSpPr>
          <p:nvPr>
            <p:ph type="sldNum" sz="quarter" idx="5"/>
          </p:nvPr>
        </p:nvSpPr>
        <p:spPr/>
        <p:txBody>
          <a:bodyPr/>
          <a:lstStyle/>
          <a:p>
            <a:fld id="{4FF24F33-4357-4941-996E-61D46A5A1D1D}" type="slidenum">
              <a:rPr lang="en-CN" smtClean="0"/>
              <a:t>4</a:t>
            </a:fld>
            <a:endParaRPr lang="en-CN"/>
          </a:p>
        </p:txBody>
      </p:sp>
    </p:spTree>
    <p:extLst>
      <p:ext uri="{BB962C8B-B14F-4D97-AF65-F5344CB8AC3E}">
        <p14:creationId xmlns:p14="http://schemas.microsoft.com/office/powerpoint/2010/main" val="30382867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CN" dirty="0"/>
              </a:p>
            </p:txBody>
          </p:sp>
        </mc:Choice>
        <mc:Fallback xmlns="">
          <p:sp>
            <p:nvSpPr>
              <p:cNvPr id="3" name="Notes Placeholder 2"/>
              <p:cNvSpPr>
                <a:spLocks noGrp="1"/>
              </p:cNvSpPr>
              <p:nvPr>
                <p:ph type="body" idx="1"/>
              </p:nvPr>
            </p:nvSpPr>
            <p:spPr/>
            <p:txBody>
              <a:bodyPr/>
              <a:lstStyle/>
              <a:p>
                <a:r>
                  <a:rPr lang="en-US" dirty="0"/>
                  <a:t>“Now that we have our subsamples, we evaluate stability across the entire regularization path.</a:t>
                </a:r>
                <a:br>
                  <a:rPr lang="en-US" dirty="0"/>
                </a:br>
                <a:r>
                  <a:rPr lang="en-US" dirty="0"/>
                  <a:t>For each value of </a:t>
                </a:r>
                <a:r>
                  <a:rPr lang="el-GR" dirty="0"/>
                  <a:t>λ </a:t>
                </a:r>
                <a:r>
                  <a:rPr lang="en-US" dirty="0"/>
                  <a:t>in our grid </a:t>
                </a:r>
                <a:r>
                  <a:rPr lang="el-GR" dirty="0"/>
                  <a:t>Λ, </a:t>
                </a:r>
                <a:r>
                  <a:rPr lang="en-US" dirty="0"/>
                  <a:t>we refit the Lasso many times—once for every subsample.”</a:t>
                </a:r>
              </a:p>
              <a:p>
                <a:r>
                  <a:rPr lang="en-US" dirty="0"/>
                  <a:t>“Concretely, for each subsample </a:t>
                </a:r>
                <a:r>
                  <a:rPr lang="en-US" sz="1200" i="0" kern="1200">
                    <a:solidFill>
                      <a:schemeClr val="tx1"/>
                    </a:solidFill>
                    <a:latin typeface="+mn-lt"/>
                    <a:ea typeface="+mn-ea"/>
                    <a:cs typeface="+mn-cs"/>
                  </a:rPr>
                  <a:t>𝑏=1,…,𝐵</a:t>
                </a:r>
                <a:r>
                  <a:rPr lang="en-US" dirty="0"/>
                  <a:t>, we solve the Lasso optimization problem</a:t>
                </a:r>
              </a:p>
              <a:p>
                <a:r>
                  <a:rPr lang="ar-AE" sz="1200" i="0" kern="1200">
                    <a:solidFill>
                      <a:schemeClr val="tx1"/>
                    </a:solidFill>
                    <a:latin typeface="+mn-lt"/>
                    <a:ea typeface="+mn-ea"/>
                    <a:cs typeface="+mn-cs"/>
                  </a:rPr>
                  <a:t>𝛽 ̂^((𝑏) ) (𝜆)=</a:t>
                </a:r>
                <a:r>
                  <a:rPr lang="en-US" sz="1200" i="0" kern="1200">
                    <a:solidFill>
                      <a:schemeClr val="tx1"/>
                    </a:solidFill>
                    <a:latin typeface="+mn-lt"/>
                    <a:ea typeface="+mn-ea"/>
                    <a:cs typeface="+mn-cs"/>
                  </a:rPr>
                  <a:t>arg</a:t>
                </a:r>
                <a:r>
                  <a:rPr lang="ar-AE" sz="1200" i="0" kern="1200">
                    <a:solidFill>
                      <a:schemeClr val="tx1"/>
                    </a:solidFill>
                    <a:latin typeface="+mn-lt"/>
                    <a:ea typeface="+mn-ea"/>
                    <a:cs typeface="+mn-cs"/>
                  </a:rPr>
                  <a:t>⁡(</a:t>
                </a:r>
                <a:r>
                  <a:rPr lang="en-US" sz="1200" i="0" kern="1200">
                    <a:solidFill>
                      <a:schemeClr val="tx1"/>
                    </a:solidFill>
                    <a:latin typeface="+mn-lt"/>
                    <a:ea typeface="+mn-ea"/>
                    <a:cs typeface="+mn-cs"/>
                  </a:rPr>
                  <a:t>min</a:t>
                </a:r>
                <a:r>
                  <a:rPr lang="ar-AE" sz="1200" i="0" kern="1200">
                    <a:solidFill>
                      <a:schemeClr val="tx1"/>
                    </a:solidFill>
                    <a:latin typeface="+mn-lt"/>
                    <a:ea typeface="+mn-ea"/>
                    <a:cs typeface="+mn-cs"/>
                  </a:rPr>
                  <a:t>⁡ )┬𝛽  (∥𝑦^((𝑏) )−𝑋^((𝑏) ) 𝛽∥_2^2+𝜆∥𝛽∥_1 ).</a:t>
                </a:r>
                <a:endParaRPr lang="ar-AE" dirty="0"/>
              </a:p>
              <a:p>
                <a:r>
                  <a:rPr lang="en-US" dirty="0"/>
                  <a:t>“From this fitted model, we extract the set of selected variables:</a:t>
                </a:r>
              </a:p>
              <a:p>
                <a:r>
                  <a:rPr lang="ar-AE" sz="1200" i="0" kern="1200">
                    <a:solidFill>
                      <a:schemeClr val="tx1"/>
                    </a:solidFill>
                    <a:latin typeface="+mn-lt"/>
                    <a:ea typeface="+mn-ea"/>
                    <a:cs typeface="+mn-cs"/>
                  </a:rPr>
                  <a:t>𝑆^(𝜆ⓜ,𝑏) ={𝑘:𝛽 ̂_𝑘^((𝑏) ) (𝜆)≠0}.</a:t>
                </a:r>
                <a:endParaRPr lang="ar-AE" dirty="0"/>
              </a:p>
              <a:p>
                <a:r>
                  <a:rPr lang="en-US" dirty="0"/>
                  <a:t>In other words, the predictors with non-zero coefficients at that </a:t>
                </a:r>
                <a:r>
                  <a:rPr lang="el-GR" dirty="0"/>
                  <a:t>λ </a:t>
                </a:r>
                <a:r>
                  <a:rPr lang="en-US" dirty="0"/>
                  <a:t>value.”</a:t>
                </a:r>
              </a:p>
              <a:p>
                <a:r>
                  <a:rPr lang="en-US" dirty="0"/>
                  <a:t>“Next, we quantify how </a:t>
                </a:r>
                <a:r>
                  <a:rPr lang="en-US" i="1" dirty="0"/>
                  <a:t>stable</a:t>
                </a:r>
                <a:r>
                  <a:rPr lang="en-US" dirty="0"/>
                  <a:t> each variable is by computing its </a:t>
                </a:r>
                <a:r>
                  <a:rPr lang="en-US" b="1" dirty="0"/>
                  <a:t>selection probability</a:t>
                </a:r>
                <a:r>
                  <a:rPr lang="en-US" dirty="0"/>
                  <a:t> across the B subsamples.</a:t>
                </a:r>
                <a:br>
                  <a:rPr lang="en-US" dirty="0"/>
                </a:br>
                <a:r>
                  <a:rPr lang="en-US" dirty="0"/>
                  <a:t>For each predictor </a:t>
                </a:r>
                <a:r>
                  <a:rPr lang="en-US" sz="1200" i="0" kern="1200">
                    <a:solidFill>
                      <a:schemeClr val="tx1"/>
                    </a:solidFill>
                    <a:latin typeface="+mn-lt"/>
                    <a:ea typeface="+mn-ea"/>
                    <a:cs typeface="+mn-cs"/>
                  </a:rPr>
                  <a:t>𝑘</a:t>
                </a:r>
                <a:r>
                  <a:rPr lang="en-US" dirty="0"/>
                  <a:t>, we calculate:</a:t>
                </a:r>
              </a:p>
              <a:p>
                <a:r>
                  <a:rPr lang="el-GR" sz="1200" i="0" kern="1200">
                    <a:solidFill>
                      <a:schemeClr val="tx1"/>
                    </a:solidFill>
                    <a:latin typeface="+mn-lt"/>
                    <a:ea typeface="+mn-ea"/>
                    <a:cs typeface="+mn-cs"/>
                  </a:rPr>
                  <a:t>Π</a:t>
                </a:r>
                <a:r>
                  <a:rPr lang="ar-AE" sz="1200" i="0" kern="1200">
                    <a:solidFill>
                      <a:schemeClr val="tx1"/>
                    </a:solidFill>
                    <a:latin typeface="+mn-lt"/>
                    <a:ea typeface="+mn-ea"/>
                    <a:cs typeface="+mn-cs"/>
                  </a:rPr>
                  <a:t> ̂_𝑘^𝜆=1/𝐵 ∑128_(𝑏=1)^𝐵</a:t>
                </a:r>
                <a:r>
                  <a:rPr lang="ar-AE" sz="1200" b="1" i="0" kern="1200">
                    <a:solidFill>
                      <a:schemeClr val="tx1"/>
                    </a:solidFill>
                    <a:latin typeface="+mn-lt"/>
                    <a:ea typeface="+mn-ea"/>
                    <a:cs typeface="+mn-cs"/>
                  </a:rPr>
                  <a:t>▒𝟏 {</a:t>
                </a:r>
                <a:r>
                  <a:rPr lang="ar-AE" sz="1200" b="0" i="0" kern="1200">
                    <a:solidFill>
                      <a:schemeClr val="tx1"/>
                    </a:solidFill>
                    <a:latin typeface="+mn-lt"/>
                    <a:ea typeface="+mn-ea"/>
                    <a:cs typeface="+mn-cs"/>
                  </a:rPr>
                  <a:t>𝑘∈𝑆^(𝜆ⓜ,𝑏) </a:t>
                </a:r>
                <a:r>
                  <a:rPr lang="ar-AE" sz="1200" b="1" i="0" kern="1200">
                    <a:solidFill>
                      <a:schemeClr val="tx1"/>
                    </a:solidFill>
                    <a:latin typeface="+mn-lt"/>
                    <a:ea typeface="+mn-ea"/>
                    <a:cs typeface="+mn-cs"/>
                  </a:rPr>
                  <a:t> }</a:t>
                </a:r>
                <a:r>
                  <a:rPr lang="ar-AE" sz="1200" b="0" i="0" kern="1200">
                    <a:solidFill>
                      <a:schemeClr val="tx1"/>
                    </a:solidFill>
                    <a:latin typeface="+mn-lt"/>
                    <a:ea typeface="+mn-ea"/>
                    <a:cs typeface="+mn-cs"/>
                  </a:rPr>
                  <a:t>.</a:t>
                </a:r>
                <a:endParaRPr lang="ar-AE" b="0" dirty="0"/>
              </a:p>
              <a:p>
                <a:r>
                  <a:rPr lang="en-US" dirty="0"/>
                  <a:t>This is simply the proportion of times variable </a:t>
                </a:r>
                <a:r>
                  <a:rPr lang="en-US" sz="1200" i="0" kern="1200">
                    <a:solidFill>
                      <a:schemeClr val="tx1"/>
                    </a:solidFill>
                    <a:latin typeface="+mn-lt"/>
                    <a:ea typeface="+mn-ea"/>
                    <a:cs typeface="+mn-cs"/>
                  </a:rPr>
                  <a:t>𝑘</a:t>
                </a:r>
                <a:r>
                  <a:rPr lang="en-US" dirty="0"/>
                  <a:t>is selected across the repeated subsampling runs.”</a:t>
                </a:r>
              </a:p>
              <a:p>
                <a:r>
                  <a:rPr lang="en-US" dirty="0"/>
                  <a:t>“Interpretation:</a:t>
                </a:r>
                <a:br>
                  <a:rPr lang="en-US" dirty="0"/>
                </a:br>
                <a:r>
                  <a:rPr lang="en-US" dirty="0"/>
                  <a:t>A high selection probability means a variable consistently survives the subsampling and regularization—i.e., it is structurally related to the response.</a:t>
                </a:r>
                <a:br>
                  <a:rPr lang="en-US" dirty="0"/>
                </a:br>
                <a:r>
                  <a:rPr lang="en-US" dirty="0"/>
                  <a:t>A low value means its presence in the model is unstable or due to noise.”</a:t>
                </a:r>
              </a:p>
              <a:p>
                <a:endParaRPr lang="en-CN" dirty="0"/>
              </a:p>
            </p:txBody>
          </p:sp>
        </mc:Fallback>
      </mc:AlternateContent>
      <p:sp>
        <p:nvSpPr>
          <p:cNvPr id="4" name="Slide Number Placeholder 3"/>
          <p:cNvSpPr>
            <a:spLocks noGrp="1"/>
          </p:cNvSpPr>
          <p:nvPr>
            <p:ph type="sldNum" sz="quarter" idx="5"/>
          </p:nvPr>
        </p:nvSpPr>
        <p:spPr/>
        <p:txBody>
          <a:bodyPr/>
          <a:lstStyle/>
          <a:p>
            <a:fld id="{4FF24F33-4357-4941-996E-61D46A5A1D1D}" type="slidenum">
              <a:rPr lang="en-CN" smtClean="0"/>
              <a:t>5</a:t>
            </a:fld>
            <a:endParaRPr lang="en-CN"/>
          </a:p>
        </p:txBody>
      </p:sp>
    </p:spTree>
    <p:extLst>
      <p:ext uri="{BB962C8B-B14F-4D97-AF65-F5344CB8AC3E}">
        <p14:creationId xmlns:p14="http://schemas.microsoft.com/office/powerpoint/2010/main" val="31949680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CN" dirty="0"/>
              </a:p>
            </p:txBody>
          </p:sp>
        </mc:Choice>
        <mc:Fallback xmlns="">
          <p:sp>
            <p:nvSpPr>
              <p:cNvPr id="3" name="Notes Placeholder 2"/>
              <p:cNvSpPr>
                <a:spLocks noGrp="1"/>
              </p:cNvSpPr>
              <p:nvPr>
                <p:ph type="body" idx="1"/>
              </p:nvPr>
            </p:nvSpPr>
            <p:spPr/>
            <p:txBody>
              <a:bodyPr/>
              <a:lstStyle/>
              <a:p>
                <a:r>
                  <a:rPr lang="en-US" dirty="0"/>
                  <a:t>Once we have the selection probabilities, we define a final </a:t>
                </a:r>
                <a:r>
                  <a:rPr lang="en-US" i="1" dirty="0"/>
                  <a:t>stable set</a:t>
                </a:r>
                <a:r>
                  <a:rPr lang="en-US" dirty="0"/>
                  <a:t> by applying a threshold.</a:t>
                </a:r>
                <a:br>
                  <a:rPr lang="en-US" dirty="0"/>
                </a:br>
                <a:r>
                  <a:rPr lang="en-US" dirty="0"/>
                  <a:t>Specifically, a variable is considered stable if its maximum selection probability across the entire regularization path exceeds a predefined threshold </a:t>
                </a:r>
                <a:r>
                  <a:rPr lang="ar-AE" sz="1200" i="0" kern="1200">
                    <a:solidFill>
                      <a:schemeClr val="tx1"/>
                    </a:solidFill>
                    <a:latin typeface="+mn-lt"/>
                    <a:ea typeface="+mn-ea"/>
                    <a:cs typeface="+mn-cs"/>
                  </a:rPr>
                  <a:t>𝜋_</a:t>
                </a:r>
                <a:r>
                  <a:rPr lang="en-US" sz="1200" b="0" i="0" kern="1200">
                    <a:solidFill>
                      <a:schemeClr val="tx1"/>
                    </a:solidFill>
                    <a:latin typeface="+mn-lt"/>
                    <a:ea typeface="+mn-ea"/>
                    <a:cs typeface="+mn-cs"/>
                  </a:rPr>
                  <a:t>"thr</a:t>
                </a:r>
                <a:r>
                  <a:rPr lang="ar-AE" sz="1200" b="0" i="0" kern="1200">
                    <a:solidFill>
                      <a:schemeClr val="tx1"/>
                    </a:solidFill>
                    <a:latin typeface="+mn-lt"/>
                    <a:ea typeface="+mn-ea"/>
                    <a:cs typeface="+mn-cs"/>
                  </a:rPr>
                  <a:t>" </a:t>
                </a:r>
                <a:r>
                  <a:rPr lang="ar-AE" dirty="0"/>
                  <a:t>:</a:t>
                </a:r>
              </a:p>
              <a:p>
                <a:r>
                  <a:rPr lang="ar-AE" sz="1200" i="0" kern="1200">
                    <a:solidFill>
                      <a:schemeClr val="tx1"/>
                    </a:solidFill>
                    <a:latin typeface="+mn-lt"/>
                    <a:ea typeface="+mn-ea"/>
                    <a:cs typeface="+mn-cs"/>
                  </a:rPr>
                  <a:t>𝑆 ̂_</a:t>
                </a:r>
                <a:r>
                  <a:rPr lang="en-US" sz="1200" b="0" i="0" kern="1200">
                    <a:solidFill>
                      <a:schemeClr val="tx1"/>
                    </a:solidFill>
                    <a:latin typeface="+mn-lt"/>
                    <a:ea typeface="+mn-ea"/>
                    <a:cs typeface="+mn-cs"/>
                  </a:rPr>
                  <a:t>"stable</a:t>
                </a:r>
                <a:r>
                  <a:rPr lang="ar-AE" sz="1200" b="0" i="0" kern="1200">
                    <a:solidFill>
                      <a:schemeClr val="tx1"/>
                    </a:solidFill>
                    <a:latin typeface="+mn-lt"/>
                    <a:ea typeface="+mn-ea"/>
                    <a:cs typeface="+mn-cs"/>
                  </a:rPr>
                  <a:t>" ={𝑘:(</a:t>
                </a:r>
                <a:r>
                  <a:rPr lang="en-US" sz="1200" b="0" i="0" kern="1200">
                    <a:solidFill>
                      <a:schemeClr val="tx1"/>
                    </a:solidFill>
                    <a:latin typeface="+mn-lt"/>
                    <a:ea typeface="+mn-ea"/>
                    <a:cs typeface="+mn-cs"/>
                  </a:rPr>
                  <a:t>max</a:t>
                </a:r>
                <a:r>
                  <a:rPr lang="ar-AE" sz="1200" b="0" i="0" kern="1200">
                    <a:solidFill>
                      <a:schemeClr val="tx1"/>
                    </a:solidFill>
                    <a:latin typeface="+mn-lt"/>
                    <a:ea typeface="+mn-ea"/>
                    <a:cs typeface="+mn-cs"/>
                  </a:rPr>
                  <a:t>⁡ )┬(𝜆∈</a:t>
                </a:r>
                <a:r>
                  <a:rPr lang="el-GR" sz="1200" b="0" i="0" kern="1200">
                    <a:solidFill>
                      <a:schemeClr val="tx1"/>
                    </a:solidFill>
                    <a:latin typeface="+mn-lt"/>
                    <a:ea typeface="+mn-ea"/>
                    <a:cs typeface="+mn-cs"/>
                  </a:rPr>
                  <a:t>Λ</a:t>
                </a:r>
                <a:r>
                  <a:rPr lang="ar-AE" sz="1200" b="0" i="0" kern="1200">
                    <a:solidFill>
                      <a:schemeClr val="tx1"/>
                    </a:solidFill>
                    <a:latin typeface="+mn-lt"/>
                    <a:ea typeface="+mn-ea"/>
                    <a:cs typeface="+mn-cs"/>
                  </a:rPr>
                  <a:t>) </a:t>
                </a:r>
                <a:r>
                  <a:rPr lang="el-GR" sz="1200" b="0" i="0" kern="1200">
                    <a:solidFill>
                      <a:schemeClr val="tx1"/>
                    </a:solidFill>
                    <a:latin typeface="+mn-lt"/>
                    <a:ea typeface="+mn-ea"/>
                    <a:cs typeface="+mn-cs"/>
                  </a:rPr>
                  <a:t>Π</a:t>
                </a:r>
                <a:r>
                  <a:rPr lang="ar-AE" sz="1200" b="0" i="0" kern="1200">
                    <a:solidFill>
                      <a:schemeClr val="tx1"/>
                    </a:solidFill>
                    <a:latin typeface="+mn-lt"/>
                    <a:ea typeface="+mn-ea"/>
                    <a:cs typeface="+mn-cs"/>
                  </a:rPr>
                  <a:t> ̂_𝑘^𝜆≥𝜋_</a:t>
                </a:r>
                <a:r>
                  <a:rPr lang="en-US" sz="1200" b="0" i="0" kern="1200">
                    <a:solidFill>
                      <a:schemeClr val="tx1"/>
                    </a:solidFill>
                    <a:latin typeface="+mn-lt"/>
                    <a:ea typeface="+mn-ea"/>
                    <a:cs typeface="+mn-cs"/>
                  </a:rPr>
                  <a:t>"thr</a:t>
                </a:r>
                <a:r>
                  <a:rPr lang="ar-AE" sz="1200" b="0" i="0" kern="1200">
                    <a:solidFill>
                      <a:schemeClr val="tx1"/>
                    </a:solidFill>
                    <a:latin typeface="+mn-lt"/>
                    <a:ea typeface="+mn-ea"/>
                    <a:cs typeface="+mn-cs"/>
                  </a:rPr>
                  <a:t>"  }.</a:t>
                </a:r>
                <a:endParaRPr lang="ar-AE" b="0" dirty="0"/>
              </a:p>
              <a:p>
                <a:r>
                  <a:rPr lang="en-US" dirty="0"/>
                  <a:t>In other words, </a:t>
                </a:r>
                <a:r>
                  <a:rPr lang="en-US" dirty="0" err="1"/>
                  <a:t>varibale</a:t>
                </a:r>
                <a:r>
                  <a:rPr lang="en-US" dirty="0"/>
                  <a:t> in stable set are selected consistently across subsamples and across different strengths of regularization, ensuring that the final model only includes relevant variables, not those chosen due to sampling noise or specific </a:t>
                </a:r>
                <a:r>
                  <a:rPr lang="el-GR" dirty="0"/>
                  <a:t>λ </a:t>
                </a:r>
                <a:r>
                  <a:rPr lang="en-US" dirty="0"/>
                  <a:t>settings.”</a:t>
                </a:r>
              </a:p>
              <a:p>
                <a:endParaRPr lang="en-US" dirty="0"/>
              </a:p>
              <a:p>
                <a:r>
                  <a:rPr lang="en-US" dirty="0"/>
                  <a:t>For each subsample, we draw a random weight for each variable:</a:t>
                </a:r>
              </a:p>
              <a:p>
                <a:r>
                  <a:rPr lang="ar-AE" sz="1200" i="0" kern="1200">
                    <a:solidFill>
                      <a:schemeClr val="tx1"/>
                    </a:solidFill>
                    <a:latin typeface="+mn-lt"/>
                    <a:ea typeface="+mn-ea"/>
                    <a:cs typeface="+mn-cs"/>
                  </a:rPr>
                  <a:t>𝑤_𝑗^((𝑏) )∼</a:t>
                </a:r>
                <a:r>
                  <a:rPr lang="en-US" sz="1200" b="0" i="0" kern="1200">
                    <a:solidFill>
                      <a:schemeClr val="tx1"/>
                    </a:solidFill>
                    <a:latin typeface="Cambria Math" panose="02040503050406030204" pitchFamily="18" charset="0"/>
                    <a:ea typeface="+mn-ea"/>
                    <a:cs typeface="+mn-cs"/>
                  </a:rPr>
                  <a:t>"Uniform</a:t>
                </a:r>
                <a:r>
                  <a:rPr lang="ar-AE" sz="1200" b="0" i="0" kern="1200">
                    <a:solidFill>
                      <a:schemeClr val="tx1"/>
                    </a:solidFill>
                    <a:latin typeface="+mn-lt"/>
                    <a:ea typeface="+mn-ea"/>
                    <a:cs typeface="+mn-cs"/>
                  </a:rPr>
                  <a:t>" (𝛼ⓜ,1),</a:t>
                </a:r>
                <a:endParaRPr lang="ar-AE" b="0" dirty="0"/>
              </a:p>
              <a:p>
                <a:r>
                  <a:rPr lang="en-US" dirty="0"/>
                  <a:t>where </a:t>
                </a:r>
                <a:r>
                  <a:rPr lang="en-US" sz="1200" i="0" kern="1200">
                    <a:solidFill>
                      <a:schemeClr val="tx1"/>
                    </a:solidFill>
                    <a:latin typeface="+mn-lt"/>
                    <a:ea typeface="+mn-ea"/>
                    <a:cs typeface="+mn-cs"/>
                  </a:rPr>
                  <a:t>𝛼∈</a:t>
                </a:r>
                <a:r>
                  <a:rPr lang="ar-AE" sz="1200" i="0" kern="1200">
                    <a:solidFill>
                      <a:schemeClr val="tx1"/>
                    </a:solidFill>
                    <a:latin typeface="+mn-lt"/>
                    <a:ea typeface="+mn-ea"/>
                    <a:cs typeface="+mn-cs"/>
                  </a:rPr>
                  <a:t>(0ⓜ,1]</a:t>
                </a:r>
                <a:r>
                  <a:rPr lang="en-US" dirty="0"/>
                  <a:t>is called the </a:t>
                </a:r>
                <a:r>
                  <a:rPr lang="en-US" i="1" dirty="0"/>
                  <a:t>weakness level</a:t>
                </a:r>
                <a:r>
                  <a:rPr lang="en-US" dirty="0"/>
                  <a:t>. A smaller </a:t>
                </a:r>
                <a:r>
                  <a:rPr lang="el-GR" dirty="0"/>
                  <a:t>α </a:t>
                </a:r>
                <a:r>
                  <a:rPr lang="en-US" dirty="0"/>
                  <a:t>introduces more randomness to the penalty; a larger </a:t>
                </a:r>
                <a:r>
                  <a:rPr lang="el-GR" dirty="0"/>
                  <a:t>α </a:t>
                </a:r>
                <a:r>
                  <a:rPr lang="en-US" dirty="0"/>
                  <a:t>makes the weights more uniform.”</a:t>
                </a:r>
              </a:p>
              <a:p>
                <a:r>
                  <a:rPr lang="en-US" dirty="0"/>
                  <a:t>“The Lasso estimator now minimizes a weighted penalty:</a:t>
                </a:r>
              </a:p>
              <a:p>
                <a:r>
                  <a:rPr lang="ar-AE" sz="1200" i="0" kern="1200">
                    <a:solidFill>
                      <a:schemeClr val="tx1"/>
                    </a:solidFill>
                    <a:latin typeface="+mn-lt"/>
                    <a:ea typeface="+mn-ea"/>
                    <a:cs typeface="+mn-cs"/>
                  </a:rPr>
                  <a:t>𝛽 ̂^((𝑏) )=</a:t>
                </a:r>
                <a:r>
                  <a:rPr lang="en-US" sz="1200" i="0" kern="1200">
                    <a:solidFill>
                      <a:schemeClr val="tx1"/>
                    </a:solidFill>
                    <a:latin typeface="+mn-lt"/>
                    <a:ea typeface="+mn-ea"/>
                    <a:cs typeface="+mn-cs"/>
                  </a:rPr>
                  <a:t>arg</a:t>
                </a:r>
                <a:r>
                  <a:rPr lang="ar-AE" sz="1200" i="0" kern="1200">
                    <a:solidFill>
                      <a:schemeClr val="tx1"/>
                    </a:solidFill>
                    <a:latin typeface="+mn-lt"/>
                    <a:ea typeface="+mn-ea"/>
                    <a:cs typeface="+mn-cs"/>
                  </a:rPr>
                  <a:t>⁡(</a:t>
                </a:r>
                <a:r>
                  <a:rPr lang="en-US" sz="1200" i="0" kern="1200">
                    <a:solidFill>
                      <a:schemeClr val="tx1"/>
                    </a:solidFill>
                    <a:latin typeface="+mn-lt"/>
                    <a:ea typeface="+mn-ea"/>
                    <a:cs typeface="+mn-cs"/>
                  </a:rPr>
                  <a:t>min</a:t>
                </a:r>
                <a:r>
                  <a:rPr lang="ar-AE" sz="1200" i="0" kern="1200">
                    <a:solidFill>
                      <a:schemeClr val="tx1"/>
                    </a:solidFill>
                    <a:latin typeface="+mn-lt"/>
                    <a:ea typeface="+mn-ea"/>
                    <a:cs typeface="+mn-cs"/>
                  </a:rPr>
                  <a:t>⁡ )┬𝛽  (∥𝑦^((𝑏) )−𝑋^((𝑏) ) 𝛽∥_2^2+𝜆∑128_(𝑘=1)^𝑝▒(∣𝛽_𝑘∣)/(𝑤_𝑘^((𝑏) ) )).</a:t>
                </a:r>
                <a:endParaRPr lang="ar-AE" dirty="0"/>
              </a:p>
              <a:p>
                <a:r>
                  <a:rPr lang="en-US" dirty="0"/>
                  <a:t>Variables given smaller weights </a:t>
                </a:r>
                <a:r>
                  <a:rPr lang="ar-AE" sz="1200" i="0" kern="1200">
                    <a:solidFill>
                      <a:schemeClr val="tx1"/>
                    </a:solidFill>
                    <a:latin typeface="+mn-lt"/>
                    <a:ea typeface="+mn-ea"/>
                    <a:cs typeface="+mn-cs"/>
                  </a:rPr>
                  <a:t>𝑤_𝑘^((𝑏) )</a:t>
                </a:r>
                <a:r>
                  <a:rPr lang="en-US" dirty="0"/>
                  <a:t> receive </a:t>
                </a:r>
                <a:r>
                  <a:rPr lang="en-US" i="1" dirty="0"/>
                  <a:t>stronger</a:t>
                </a:r>
                <a:r>
                  <a:rPr lang="en-US" dirty="0"/>
                  <a:t> penalization, which helps break correlations and improves identifiability in highly correlated predictor settings.”</a:t>
                </a:r>
              </a:p>
              <a:p>
                <a:endParaRPr lang="en-US" dirty="0"/>
              </a:p>
              <a:p>
                <a:r>
                  <a:rPr lang="en-US" dirty="0"/>
                  <a:t>A </a:t>
                </a:r>
                <a:r>
                  <a:rPr lang="en-US" b="1" dirty="0"/>
                  <a:t>small </a:t>
                </a:r>
                <a:r>
                  <a:rPr lang="el-GR" b="1" dirty="0"/>
                  <a:t>α</a:t>
                </a:r>
                <a:r>
                  <a:rPr lang="el-GR" dirty="0"/>
                  <a:t> (</a:t>
                </a:r>
                <a:r>
                  <a:rPr lang="en-US" dirty="0"/>
                  <a:t>for example </a:t>
                </a:r>
                <a:r>
                  <a:rPr lang="el-GR" dirty="0"/>
                  <a:t>α = 0.2) </a:t>
                </a:r>
                <a:r>
                  <a:rPr lang="en-US" dirty="0"/>
                  <a:t>means </a:t>
                </a:r>
                <a:r>
                  <a:rPr lang="en-US" b="1" dirty="0"/>
                  <a:t>strong randomization</a:t>
                </a:r>
                <a:r>
                  <a:rPr lang="en-US" dirty="0"/>
                  <a:t> — predictors are aggressively perturbed. This tends to </a:t>
                </a:r>
                <a:r>
                  <a:rPr lang="en-US" b="1" dirty="0"/>
                  <a:t>break symmetry</a:t>
                </a:r>
                <a:r>
                  <a:rPr lang="en-US" dirty="0"/>
                  <a:t> among correlated variables and prevents one variable from dominating simply due to scale or small numerical advantages. A </a:t>
                </a:r>
                <a:r>
                  <a:rPr lang="en-US" b="1" dirty="0"/>
                  <a:t>large </a:t>
                </a:r>
                <a:r>
                  <a:rPr lang="el-GR" b="1" dirty="0"/>
                  <a:t>α</a:t>
                </a:r>
                <a:r>
                  <a:rPr lang="el-GR" dirty="0"/>
                  <a:t> (</a:t>
                </a:r>
                <a:r>
                  <a:rPr lang="en-US" dirty="0"/>
                  <a:t>closer to 1) means </a:t>
                </a:r>
                <a:r>
                  <a:rPr lang="en-US" b="1" dirty="0"/>
                  <a:t>weak randomization</a:t>
                </a:r>
                <a:r>
                  <a:rPr lang="en-US" dirty="0"/>
                  <a:t> — predictors are barely perturbed. correlated predictors may compete and one may consistently outperform the others.</a:t>
                </a:r>
              </a:p>
              <a:p>
                <a:r>
                  <a:rPr lang="en-US" dirty="0"/>
                  <a:t>In practice, </a:t>
                </a:r>
                <a:r>
                  <a:rPr lang="el-GR" dirty="0"/>
                  <a:t>α </a:t>
                </a:r>
                <a:r>
                  <a:rPr lang="en-US" dirty="0"/>
                  <a:t>between </a:t>
                </a:r>
                <a:r>
                  <a:rPr lang="en-US" b="1" dirty="0"/>
                  <a:t>0.2 and 0.5</a:t>
                </a:r>
                <a:r>
                  <a:rPr lang="en-US" dirty="0"/>
                  <a:t> is usually chosen. It introduces enough variability to reveal genuinely stable predictors while not making selection too noisy.</a:t>
                </a:r>
              </a:p>
              <a:p>
                <a:endParaRPr lang="en-CN" dirty="0"/>
              </a:p>
            </p:txBody>
          </p:sp>
        </mc:Fallback>
      </mc:AlternateContent>
      <p:sp>
        <p:nvSpPr>
          <p:cNvPr id="4" name="Slide Number Placeholder 3"/>
          <p:cNvSpPr>
            <a:spLocks noGrp="1"/>
          </p:cNvSpPr>
          <p:nvPr>
            <p:ph type="sldNum" sz="quarter" idx="5"/>
          </p:nvPr>
        </p:nvSpPr>
        <p:spPr/>
        <p:txBody>
          <a:bodyPr/>
          <a:lstStyle/>
          <a:p>
            <a:fld id="{4FF24F33-4357-4941-996E-61D46A5A1D1D}" type="slidenum">
              <a:rPr lang="en-CN" smtClean="0"/>
              <a:t>6</a:t>
            </a:fld>
            <a:endParaRPr lang="en-CN"/>
          </a:p>
        </p:txBody>
      </p:sp>
    </p:spTree>
    <p:extLst>
      <p:ext uri="{BB962C8B-B14F-4D97-AF65-F5344CB8AC3E}">
        <p14:creationId xmlns:p14="http://schemas.microsoft.com/office/powerpoint/2010/main" val="7582185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4FF24F33-4357-4941-996E-61D46A5A1D1D}" type="slidenum">
              <a:rPr lang="en-CN" smtClean="0"/>
              <a:t>7</a:t>
            </a:fld>
            <a:endParaRPr lang="en-CN"/>
          </a:p>
        </p:txBody>
      </p:sp>
    </p:spTree>
    <p:extLst>
      <p:ext uri="{BB962C8B-B14F-4D97-AF65-F5344CB8AC3E}">
        <p14:creationId xmlns:p14="http://schemas.microsoft.com/office/powerpoint/2010/main" val="39733464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4FF24F33-4357-4941-996E-61D46A5A1D1D}" type="slidenum">
              <a:rPr lang="en-CN" smtClean="0"/>
              <a:t>8</a:t>
            </a:fld>
            <a:endParaRPr lang="en-CN"/>
          </a:p>
        </p:txBody>
      </p:sp>
    </p:spTree>
    <p:extLst>
      <p:ext uri="{BB962C8B-B14F-4D97-AF65-F5344CB8AC3E}">
        <p14:creationId xmlns:p14="http://schemas.microsoft.com/office/powerpoint/2010/main" val="21081537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4FF24F33-4357-4941-996E-61D46A5A1D1D}" type="slidenum">
              <a:rPr lang="en-CN" smtClean="0"/>
              <a:t>9</a:t>
            </a:fld>
            <a:endParaRPr lang="en-CN"/>
          </a:p>
        </p:txBody>
      </p:sp>
    </p:spTree>
    <p:extLst>
      <p:ext uri="{BB962C8B-B14F-4D97-AF65-F5344CB8AC3E}">
        <p14:creationId xmlns:p14="http://schemas.microsoft.com/office/powerpoint/2010/main" val="33041777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CN" dirty="0"/>
              </a:p>
            </p:txBody>
          </p:sp>
        </mc:Choice>
        <mc:Fallback xmlns="">
          <p:sp>
            <p:nvSpPr>
              <p:cNvPr id="3" name="Notes Placeholder 2"/>
              <p:cNvSpPr>
                <a:spLocks noGrp="1"/>
              </p:cNvSpPr>
              <p:nvPr>
                <p:ph type="body" idx="1"/>
              </p:nvPr>
            </p:nvSpPr>
            <p:spPr/>
            <p:txBody>
              <a:bodyPr/>
              <a:lstStyle/>
              <a:p>
                <a:r>
                  <a:rPr lang="en-US" dirty="0"/>
                  <a:t>Across all regularization levels, the true signal variables show consistently high selection probabilities, indicating that stability selection reliably identifies them.”</a:t>
                </a:r>
              </a:p>
              <a:p>
                <a:r>
                  <a:rPr lang="en-US" dirty="0"/>
                  <a:t>“When predictors are highly correlated, their stability decreases—particularly </a:t>
                </a:r>
                <a:r>
                  <a:rPr lang="ar-AE" sz="1200" i="0" kern="1200">
                    <a:solidFill>
                      <a:schemeClr val="tx1"/>
                    </a:solidFill>
                    <a:latin typeface="+mn-lt"/>
                    <a:ea typeface="+mn-ea"/>
                    <a:cs typeface="+mn-cs"/>
                  </a:rPr>
                  <a:t>𝑋_2</a:t>
                </a:r>
                <a:r>
                  <a:rPr lang="ar-AE" dirty="0"/>
                  <a:t>, </a:t>
                </a:r>
                <a:r>
                  <a:rPr lang="en-US" dirty="0"/>
                  <a:t>whose selection path is noticeably less consistent than </a:t>
                </a:r>
                <a:r>
                  <a:rPr lang="ar-AE" sz="1200" i="0" kern="1200">
                    <a:solidFill>
                      <a:schemeClr val="tx1"/>
                    </a:solidFill>
                    <a:latin typeface="+mn-lt"/>
                    <a:ea typeface="+mn-ea"/>
                    <a:cs typeface="+mn-cs"/>
                  </a:rPr>
                  <a:t>𝑋_1</a:t>
                </a:r>
                <a:r>
                  <a:rPr lang="ar-AE" dirty="0"/>
                  <a:t>, </a:t>
                </a:r>
                <a:r>
                  <a:rPr lang="en-US" dirty="0"/>
                  <a:t>reflecting the difficulty of separating correlated effects.”</a:t>
                </a:r>
              </a:p>
              <a:p>
                <a:r>
                  <a:rPr lang="en-US" dirty="0"/>
                  <a:t>“The randomized Lasso produces overall lower but smoother selection probabilities, making the results more robust while noise variables remain near zero, demonstrating effective control of false positives.”</a:t>
                </a:r>
              </a:p>
              <a:p>
                <a:endParaRPr lang="en-CN" dirty="0"/>
              </a:p>
            </p:txBody>
          </p:sp>
        </mc:Fallback>
      </mc:AlternateContent>
      <p:sp>
        <p:nvSpPr>
          <p:cNvPr id="4" name="Slide Number Placeholder 3"/>
          <p:cNvSpPr>
            <a:spLocks noGrp="1"/>
          </p:cNvSpPr>
          <p:nvPr>
            <p:ph type="sldNum" sz="quarter" idx="5"/>
          </p:nvPr>
        </p:nvSpPr>
        <p:spPr/>
        <p:txBody>
          <a:bodyPr/>
          <a:lstStyle/>
          <a:p>
            <a:fld id="{4FF24F33-4357-4941-996E-61D46A5A1D1D}" type="slidenum">
              <a:rPr lang="en-CN" smtClean="0"/>
              <a:t>10</a:t>
            </a:fld>
            <a:endParaRPr lang="en-CN"/>
          </a:p>
        </p:txBody>
      </p:sp>
    </p:spTree>
    <p:extLst>
      <p:ext uri="{BB962C8B-B14F-4D97-AF65-F5344CB8AC3E}">
        <p14:creationId xmlns:p14="http://schemas.microsoft.com/office/powerpoint/2010/main" val="2544252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4FF24F33-4357-4941-996E-61D46A5A1D1D}" type="slidenum">
              <a:rPr lang="en-CN" smtClean="0"/>
              <a:t>11</a:t>
            </a:fld>
            <a:endParaRPr lang="en-CN"/>
          </a:p>
        </p:txBody>
      </p:sp>
    </p:spTree>
    <p:extLst>
      <p:ext uri="{BB962C8B-B14F-4D97-AF65-F5344CB8AC3E}">
        <p14:creationId xmlns:p14="http://schemas.microsoft.com/office/powerpoint/2010/main" val="37746284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CN" dirty="0"/>
              </a:p>
            </p:txBody>
          </p:sp>
        </mc:Choice>
        <mc:Fallback xmlns="">
          <p:sp>
            <p:nvSpPr>
              <p:cNvPr id="3" name="Notes Placeholder 2"/>
              <p:cNvSpPr>
                <a:spLocks noGrp="1"/>
              </p:cNvSpPr>
              <p:nvPr>
                <p:ph type="body" idx="1"/>
              </p:nvPr>
            </p:nvSpPr>
            <p:spPr/>
            <p:txBody>
              <a:bodyPr/>
              <a:lstStyle/>
              <a:p>
                <a:r>
                  <a:rPr lang="en-US" dirty="0"/>
                  <a:t>I vary the correlation </a:t>
                </a:r>
                <a:r>
                  <a:rPr lang="en-US" sz="1200" i="0" kern="1200">
                    <a:solidFill>
                      <a:schemeClr val="tx1"/>
                    </a:solidFill>
                    <a:latin typeface="+mn-lt"/>
                    <a:ea typeface="+mn-ea"/>
                    <a:cs typeface="+mn-cs"/>
                  </a:rPr>
                  <a:t>𝜌=0.2,</a:t>
                </a:r>
                <a:r>
                  <a:rPr lang="en-US"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mn-lt"/>
                    <a:ea typeface="+mn-ea"/>
                    <a:cs typeface="+mn-cs"/>
                  </a:rPr>
                  <a:t>" 0.6,</a:t>
                </a:r>
                <a:r>
                  <a:rPr lang="en-US"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mn-lt"/>
                    <a:ea typeface="+mn-ea"/>
                    <a:cs typeface="+mn-cs"/>
                  </a:rPr>
                  <a:t>" 1</a:t>
                </a:r>
                <a:r>
                  <a:rPr lang="en-US" dirty="0"/>
                  <a:t>between two signal variables </a:t>
                </a:r>
                <a:r>
                  <a:rPr lang="ar-AE" sz="1200" i="0" kern="1200">
                    <a:solidFill>
                      <a:schemeClr val="tx1"/>
                    </a:solidFill>
                    <a:latin typeface="+mn-lt"/>
                    <a:ea typeface="+mn-ea"/>
                    <a:cs typeface="+mn-cs"/>
                  </a:rPr>
                  <a:t>𝑋_1</a:t>
                </a:r>
                <a:r>
                  <a:rPr lang="en-US" dirty="0"/>
                  <a:t>and </a:t>
                </a:r>
                <a:r>
                  <a:rPr lang="ar-AE" sz="1200" i="0" kern="1200">
                    <a:solidFill>
                      <a:schemeClr val="tx1"/>
                    </a:solidFill>
                    <a:latin typeface="+mn-lt"/>
                    <a:ea typeface="+mn-ea"/>
                    <a:cs typeface="+mn-cs"/>
                  </a:rPr>
                  <a:t>𝑋_2</a:t>
                </a:r>
                <a:r>
                  <a:rPr lang="ar-AE" dirty="0"/>
                  <a:t>.</a:t>
                </a:r>
              </a:p>
              <a:p>
                <a:r>
                  <a:rPr lang="en-US" dirty="0"/>
                  <a:t>As correlation increases, their selection probabilities become more entangled.</a:t>
                </a:r>
              </a:p>
              <a:p>
                <a:r>
                  <a:rPr lang="en-US" dirty="0"/>
                  <a:t>For Lasso, one variable tends to dominate the other — which one depends on variance scale.</a:t>
                </a:r>
              </a:p>
              <a:p>
                <a:r>
                  <a:rPr lang="en-US" dirty="0"/>
                  <a:t>Randomized Lasso reduces but does not eliminate the dominance effect.</a:t>
                </a:r>
              </a:p>
              <a:p>
                <a:r>
                  <a:rPr lang="en-US" dirty="0"/>
                  <a:t>The main takeaway: </a:t>
                </a:r>
                <a:r>
                  <a:rPr lang="en-US" b="1" dirty="0"/>
                  <a:t>higher correlation makes Lasso allocate credit unevenly</a:t>
                </a:r>
                <a:r>
                  <a:rPr lang="en-US" dirty="0"/>
                  <a:t>, affecting stability selection.</a:t>
                </a:r>
              </a:p>
              <a:p>
                <a:endParaRPr lang="en-CN" dirty="0"/>
              </a:p>
            </p:txBody>
          </p:sp>
        </mc:Fallback>
      </mc:AlternateContent>
      <p:sp>
        <p:nvSpPr>
          <p:cNvPr id="4" name="Slide Number Placeholder 3"/>
          <p:cNvSpPr>
            <a:spLocks noGrp="1"/>
          </p:cNvSpPr>
          <p:nvPr>
            <p:ph type="sldNum" sz="quarter" idx="5"/>
          </p:nvPr>
        </p:nvSpPr>
        <p:spPr/>
        <p:txBody>
          <a:bodyPr/>
          <a:lstStyle/>
          <a:p>
            <a:fld id="{4FF24F33-4357-4941-996E-61D46A5A1D1D}" type="slidenum">
              <a:rPr lang="en-CN" smtClean="0"/>
              <a:t>12</a:t>
            </a:fld>
            <a:endParaRPr lang="en-CN"/>
          </a:p>
        </p:txBody>
      </p:sp>
    </p:spTree>
    <p:extLst>
      <p:ext uri="{BB962C8B-B14F-4D97-AF65-F5344CB8AC3E}">
        <p14:creationId xmlns:p14="http://schemas.microsoft.com/office/powerpoint/2010/main" val="2055756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CN" dirty="0"/>
              </a:p>
            </p:txBody>
          </p:sp>
        </mc:Choice>
        <mc:Fallback xmlns="">
          <p:sp>
            <p:nvSpPr>
              <p:cNvPr id="3" name="Notes Placeholder 2"/>
              <p:cNvSpPr>
                <a:spLocks noGrp="1"/>
              </p:cNvSpPr>
              <p:nvPr>
                <p:ph type="body" idx="1"/>
              </p:nvPr>
            </p:nvSpPr>
            <p:spPr/>
            <p:txBody>
              <a:bodyPr/>
              <a:lstStyle/>
              <a:p>
                <a:r>
                  <a:rPr lang="en-US" dirty="0"/>
                  <a:t>if </a:t>
                </a:r>
                <a:r>
                  <a:rPr lang="en-US" sz="1200" i="0" kern="1200" dirty="0">
                    <a:solidFill>
                      <a:schemeClr val="tx1"/>
                    </a:solidFill>
                    <a:latin typeface="+mn-lt"/>
                    <a:ea typeface="+mn-ea"/>
                    <a:cs typeface="+mn-cs"/>
                  </a:rPr>
                  <a:t>𝑋_𝑗</a:t>
                </a:r>
                <a:r>
                  <a:rPr lang="en-US" dirty="0"/>
                  <a:t>has </a:t>
                </a:r>
                <a:r>
                  <a:rPr lang="en-US" b="1" dirty="0"/>
                  <a:t>extremely large variance</a:t>
                </a:r>
                <a:r>
                  <a:rPr lang="en-US" dirty="0"/>
                  <a:t>, then the coefficient that best fits the data may be </a:t>
                </a:r>
                <a:r>
                  <a:rPr lang="en-US" b="1" dirty="0"/>
                  <a:t>very small</a:t>
                </a:r>
                <a:r>
                  <a:rPr lang="en-US" dirty="0"/>
                  <a:t>. then the lasso will shrink the small coefficients to zeros fist, therefore x1 with larger variance might have more zero coefficients</a:t>
                </a:r>
              </a:p>
              <a:p>
                <a:r>
                  <a:rPr lang="en-US" dirty="0"/>
                  <a:t>X₁: huge variance → </a:t>
                </a:r>
                <a:r>
                  <a:rPr lang="el-GR" dirty="0"/>
                  <a:t>β₁ </a:t>
                </a:r>
                <a:r>
                  <a:rPr lang="en-US" dirty="0"/>
                  <a:t>must be </a:t>
                </a:r>
                <a:r>
                  <a:rPr lang="en-US" i="1" dirty="0"/>
                  <a:t>tiny</a:t>
                </a:r>
                <a:r>
                  <a:rPr lang="en-US" dirty="0"/>
                  <a:t> to have same effect</a:t>
                </a:r>
              </a:p>
              <a:p>
                <a:r>
                  <a:rPr lang="en-US" dirty="0"/>
                  <a:t>Tiny coefficients = easy for Lasso to shrink to 0</a:t>
                </a:r>
              </a:p>
              <a:p>
                <a:r>
                  <a:rPr lang="en-US" dirty="0"/>
                  <a:t>X₂: small variance → </a:t>
                </a:r>
                <a:r>
                  <a:rPr lang="el-GR" dirty="0"/>
                  <a:t>β₂ </a:t>
                </a:r>
                <a:r>
                  <a:rPr lang="en-US" dirty="0"/>
                  <a:t>remains larger → survives </a:t>
                </a:r>
                <a:r>
                  <a:rPr lang="el-GR" dirty="0"/>
                  <a:t>λ</a:t>
                </a:r>
              </a:p>
              <a:p>
                <a:r>
                  <a:rPr lang="en-US" dirty="0"/>
                  <a:t>Lasso picks the one with less punishment → </a:t>
                </a:r>
                <a:r>
                  <a:rPr lang="en-US" b="1" dirty="0"/>
                  <a:t>X₂</a:t>
                </a:r>
                <a:endParaRPr lang="en-US" dirty="0"/>
              </a:p>
              <a:p>
                <a:r>
                  <a:rPr lang="en-US" dirty="0"/>
                  <a:t>As covariance rises, the predictors share more of the signal.</a:t>
                </a:r>
                <a:br>
                  <a:rPr lang="en-US" dirty="0"/>
                </a:br>
                <a:r>
                  <a:rPr lang="en-US" dirty="0"/>
                  <a:t>Lasso attributes more of that shared signal to the “cheap” predictor → </a:t>
                </a:r>
                <a:r>
                  <a:rPr lang="en-US" b="1" dirty="0"/>
                  <a:t>X₂</a:t>
                </a:r>
                <a:r>
                  <a:rPr lang="en-US" dirty="0"/>
                  <a:t>.</a:t>
                </a:r>
              </a:p>
              <a:p>
                <a:endParaRPr lang="en-CN" dirty="0"/>
              </a:p>
              <a:p>
                <a:r>
                  <a:rPr lang="en-US" dirty="0"/>
                  <a:t>Subsampling amplifies the instability of high-variance X₁</a:t>
                </a:r>
              </a:p>
              <a:p>
                <a:endParaRPr lang="en-US" dirty="0"/>
              </a:p>
              <a:p>
                <a:r>
                  <a:rPr lang="en-US" dirty="0"/>
                  <a:t>This figure shows how changing the variance ratio </a:t>
                </a:r>
                <a:r>
                  <a:rPr lang="en-US" sz="1200" i="0" kern="1200">
                    <a:solidFill>
                      <a:schemeClr val="tx1"/>
                    </a:solidFill>
                    <a:latin typeface="+mn-lt"/>
                    <a:ea typeface="+mn-ea"/>
                    <a:cs typeface="+mn-cs"/>
                  </a:rPr>
                  <a:t>Var</a:t>
                </a:r>
                <a:r>
                  <a:rPr lang="ar-AE" sz="1200" i="0" kern="1200">
                    <a:solidFill>
                      <a:schemeClr val="tx1"/>
                    </a:solidFill>
                    <a:latin typeface="+mn-lt"/>
                    <a:ea typeface="+mn-ea"/>
                    <a:cs typeface="+mn-cs"/>
                  </a:rPr>
                  <a:t>(𝑋_1 )/</a:t>
                </a:r>
                <a:r>
                  <a:rPr lang="en-US" sz="1200" i="0" kern="1200">
                    <a:solidFill>
                      <a:schemeClr val="tx1"/>
                    </a:solidFill>
                    <a:latin typeface="+mn-lt"/>
                    <a:ea typeface="+mn-ea"/>
                    <a:cs typeface="+mn-cs"/>
                  </a:rPr>
                  <a:t>Var</a:t>
                </a:r>
                <a:r>
                  <a:rPr lang="ar-AE" sz="1200" i="0" kern="1200">
                    <a:solidFill>
                      <a:schemeClr val="tx1"/>
                    </a:solidFill>
                    <a:latin typeface="+mn-lt"/>
                    <a:ea typeface="+mn-ea"/>
                    <a:cs typeface="+mn-cs"/>
                  </a:rPr>
                  <a:t>(𝑋_2 )</a:t>
                </a:r>
                <a:r>
                  <a:rPr lang="en-US" dirty="0"/>
                  <a:t>affects selection.</a:t>
                </a:r>
              </a:p>
              <a:p>
                <a:r>
                  <a:rPr lang="en-US" dirty="0"/>
                  <a:t>Three key observations:</a:t>
                </a:r>
              </a:p>
              <a:p>
                <a:r>
                  <a:rPr lang="en-US" dirty="0"/>
                  <a:t>Increasing the variance of </a:t>
                </a:r>
                <a:r>
                  <a:rPr lang="ar-AE" sz="1200" i="0" kern="1200">
                    <a:solidFill>
                      <a:schemeClr val="tx1"/>
                    </a:solidFill>
                    <a:latin typeface="+mn-lt"/>
                    <a:ea typeface="+mn-ea"/>
                    <a:cs typeface="+mn-cs"/>
                  </a:rPr>
                  <a:t>𝑋_1</a:t>
                </a:r>
                <a:r>
                  <a:rPr lang="en-US" i="1" dirty="0"/>
                  <a:t>reduces</a:t>
                </a:r>
                <a:r>
                  <a:rPr lang="en-US" dirty="0"/>
                  <a:t> its selection probability — Lasso penalizes its large coefficients more heavily.</a:t>
                </a:r>
              </a:p>
              <a:p>
                <a:r>
                  <a:rPr lang="en-US" dirty="0"/>
                  <a:t>The low-variance variable </a:t>
                </a:r>
                <a:r>
                  <a:rPr lang="ar-AE" sz="1200" i="0" kern="1200">
                    <a:solidFill>
                      <a:schemeClr val="tx1"/>
                    </a:solidFill>
                    <a:latin typeface="+mn-lt"/>
                    <a:ea typeface="+mn-ea"/>
                    <a:cs typeface="+mn-cs"/>
                  </a:rPr>
                  <a:t>𝑋_2</a:t>
                </a:r>
                <a:r>
                  <a:rPr lang="en-US" dirty="0"/>
                  <a:t>becomes more stable and is selected more often, even though both carry signal.</a:t>
                </a:r>
              </a:p>
              <a:p>
                <a:r>
                  <a:rPr lang="en-US" dirty="0"/>
                  <a:t>Extreme variance ratios exaggerate this effect: the selection path becomes biased toward the small-variance predictor.</a:t>
                </a:r>
              </a:p>
              <a:p>
                <a:r>
                  <a:rPr lang="en-US" dirty="0"/>
                  <a:t>This shows that stability selection is </a:t>
                </a:r>
                <a:r>
                  <a:rPr lang="en-US" b="1" dirty="0"/>
                  <a:t>not scale-invariant</a:t>
                </a:r>
                <a:r>
                  <a:rPr lang="en-US" dirty="0"/>
                  <a:t> unless we standardize predictors, which we intentionally did </a:t>
                </a:r>
                <a:r>
                  <a:rPr lang="en-US" i="1" dirty="0"/>
                  <a:t>not</a:t>
                </a:r>
                <a:r>
                  <a:rPr lang="en-US" dirty="0"/>
                  <a:t> do.</a:t>
                </a:r>
              </a:p>
              <a:p>
                <a:endParaRPr lang="en-CN" dirty="0"/>
              </a:p>
            </p:txBody>
          </p:sp>
        </mc:Fallback>
      </mc:AlternateContent>
      <p:sp>
        <p:nvSpPr>
          <p:cNvPr id="4" name="Slide Number Placeholder 3"/>
          <p:cNvSpPr>
            <a:spLocks noGrp="1"/>
          </p:cNvSpPr>
          <p:nvPr>
            <p:ph type="sldNum" sz="quarter" idx="5"/>
          </p:nvPr>
        </p:nvSpPr>
        <p:spPr/>
        <p:txBody>
          <a:bodyPr/>
          <a:lstStyle/>
          <a:p>
            <a:fld id="{4FF24F33-4357-4941-996E-61D46A5A1D1D}" type="slidenum">
              <a:rPr lang="en-CN" smtClean="0"/>
              <a:t>13</a:t>
            </a:fld>
            <a:endParaRPr lang="en-CN"/>
          </a:p>
        </p:txBody>
      </p:sp>
    </p:spTree>
    <p:extLst>
      <p:ext uri="{BB962C8B-B14F-4D97-AF65-F5344CB8AC3E}">
        <p14:creationId xmlns:p14="http://schemas.microsoft.com/office/powerpoint/2010/main" val="31848179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4FF24F33-4357-4941-996E-61D46A5A1D1D}" type="slidenum">
              <a:rPr lang="en-CN" smtClean="0"/>
              <a:t>14</a:t>
            </a:fld>
            <a:endParaRPr lang="en-CN"/>
          </a:p>
        </p:txBody>
      </p:sp>
    </p:spTree>
    <p:extLst>
      <p:ext uri="{BB962C8B-B14F-4D97-AF65-F5344CB8AC3E}">
        <p14:creationId xmlns:p14="http://schemas.microsoft.com/office/powerpoint/2010/main" val="737843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12/8/25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oi.org/10.1111/j.1467-9868.2010.00740.x"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6.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a:bodyPr>
          <a:lstStyle/>
          <a:p>
            <a:pPr marL="0" lvl="0" indent="0">
              <a:buNone/>
            </a:pPr>
            <a:r>
              <a:rPr dirty="0"/>
              <a:t>Stability Selection in High-Dimensional Data</a:t>
            </a:r>
          </a:p>
        </p:txBody>
      </p:sp>
      <p:sp>
        <p:nvSpPr>
          <p:cNvPr id="3" name="Subtitle 2"/>
          <p:cNvSpPr>
            <a:spLocks noGrp="1"/>
          </p:cNvSpPr>
          <p:nvPr>
            <p:ph type="subTitle" idx="1"/>
          </p:nvPr>
        </p:nvSpPr>
        <p:spPr>
          <a:xfrm>
            <a:off x="1316736" y="2700338"/>
            <a:ext cx="6510528" cy="1314450"/>
          </a:xfrm>
        </p:spPr>
        <p:txBody>
          <a:bodyPr>
            <a:normAutofit fontScale="40000" lnSpcReduction="20000"/>
          </a:bodyPr>
          <a:lstStyle/>
          <a:p>
            <a:br>
              <a:rPr dirty="0">
                <a:solidFill>
                  <a:schemeClr val="tx1"/>
                </a:solidFill>
              </a:rPr>
            </a:br>
            <a:r>
              <a:rPr lang="en-US" sz="5000" dirty="0">
                <a:solidFill>
                  <a:schemeClr val="tx1"/>
                </a:solidFill>
              </a:rPr>
              <a:t>Jinglin Yang</a:t>
            </a:r>
          </a:p>
          <a:p>
            <a:endParaRPr lang="en-US" sz="3600" dirty="0">
              <a:solidFill>
                <a:schemeClr val="tx1"/>
              </a:solidFill>
            </a:endParaRPr>
          </a:p>
          <a:p>
            <a:pPr algn="l"/>
            <a:r>
              <a:rPr lang="en-US" dirty="0">
                <a:solidFill>
                  <a:schemeClr val="tx1"/>
                </a:solidFill>
              </a:rPr>
              <a:t>Nicolai </a:t>
            </a:r>
            <a:r>
              <a:rPr lang="en-US" dirty="0" err="1">
                <a:solidFill>
                  <a:schemeClr val="tx1"/>
                </a:solidFill>
              </a:rPr>
              <a:t>Meinshausen</a:t>
            </a:r>
            <a:r>
              <a:rPr lang="en-US" dirty="0">
                <a:solidFill>
                  <a:schemeClr val="tx1"/>
                </a:solidFill>
              </a:rPr>
              <a:t>, Peter </a:t>
            </a:r>
            <a:r>
              <a:rPr lang="en-US" dirty="0" err="1">
                <a:solidFill>
                  <a:schemeClr val="tx1"/>
                </a:solidFill>
              </a:rPr>
              <a:t>Bühlmann</a:t>
            </a:r>
            <a:r>
              <a:rPr lang="en-US" dirty="0">
                <a:solidFill>
                  <a:schemeClr val="tx1"/>
                </a:solidFill>
              </a:rPr>
              <a:t>, Stability Selection, </a:t>
            </a:r>
            <a:r>
              <a:rPr lang="en-US" i="1" dirty="0">
                <a:solidFill>
                  <a:schemeClr val="tx1"/>
                </a:solidFill>
              </a:rPr>
              <a:t>Journal of the Royal Statistical Society Series B: Statistical Methodology</a:t>
            </a:r>
            <a:r>
              <a:rPr lang="en-US" dirty="0">
                <a:solidFill>
                  <a:schemeClr val="tx1"/>
                </a:solidFill>
              </a:rPr>
              <a:t>, Volume 72, Issue 4, September 2010, Pages 417–473, </a:t>
            </a:r>
            <a:r>
              <a:rPr lang="en-US" dirty="0">
                <a:solidFill>
                  <a:schemeClr val="tx1"/>
                </a:solidFill>
                <a:hlinkClick r:id="rId3">
                  <a:extLst>
                    <a:ext uri="{A12FA001-AC4F-418D-AE19-62706E023703}">
                      <ahyp:hlinkClr xmlns:ahyp="http://schemas.microsoft.com/office/drawing/2018/hyperlinkcolor" val="tx"/>
                    </a:ext>
                  </a:extLst>
                </a:hlinkClick>
              </a:rPr>
              <a:t>https://doi.org/10.1111/j.1467-9868.2010.00740.x</a:t>
            </a:r>
            <a:endParaRPr lang="en-US" dirty="0">
              <a:solidFill>
                <a:schemeClr val="tx1"/>
              </a:solidFill>
            </a:endParaRPr>
          </a:p>
          <a:p>
            <a:br>
              <a:rPr lang="en-US" dirty="0"/>
            </a:b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lgn="l">
              <a:buNone/>
            </a:pPr>
            <a:r>
              <a:rPr dirty="0"/>
              <a:t>Motivation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marL="0" lvl="0" indent="0">
                  <a:buNone/>
                </a:pPr>
                <a:r>
                  <a:rPr dirty="0"/>
                  <a:t>Variable selection in high-dimensional settings </a:t>
                </a:r>
                <a14:m>
                  <m:oMath xmlns:m="http://schemas.openxmlformats.org/officeDocument/2006/math">
                    <m:d>
                      <m:dPr>
                        <m:ctrlPr>
                          <a:rPr i="1">
                            <a:latin typeface="Cambria Math" panose="02040503050406030204" pitchFamily="18" charset="0"/>
                          </a:rPr>
                        </m:ctrlPr>
                      </m:dPr>
                      <m:e>
                        <m:r>
                          <a:rPr>
                            <a:latin typeface="Cambria Math" panose="02040503050406030204" pitchFamily="18" charset="0"/>
                          </a:rPr>
                          <m:t>𝑝</m:t>
                        </m:r>
                        <m:r>
                          <a:rPr>
                            <a:latin typeface="Cambria Math" panose="02040503050406030204" pitchFamily="18" charset="0"/>
                          </a:rPr>
                          <m:t>&gt;&gt;</m:t>
                        </m:r>
                        <m:r>
                          <a:rPr>
                            <a:latin typeface="Cambria Math" panose="02040503050406030204" pitchFamily="18" charset="0"/>
                          </a:rPr>
                          <m:t>𝑛</m:t>
                        </m:r>
                      </m:e>
                    </m:d>
                  </m:oMath>
                </a14:m>
                <a:r>
                  <a:rPr dirty="0"/>
                  <a:t> is unstable and difficult because:</a:t>
                </a:r>
              </a:p>
              <a:p>
                <a:pPr lvl="0"/>
                <a:r>
                  <a:rPr lang="en-US" dirty="0"/>
                  <a:t>R</a:t>
                </a:r>
                <a:r>
                  <a:rPr dirty="0"/>
                  <a:t>egression is not stable, i.e., the coefficients estimates change every regression fit</a:t>
                </a:r>
                <a:r>
                  <a:rPr lang="en-US" dirty="0"/>
                  <a:t> or when data is changed</a:t>
                </a:r>
                <a:endParaRPr dirty="0"/>
              </a:p>
              <a:p>
                <a:pPr lvl="0"/>
                <a:r>
                  <a:rPr lang="en-US" dirty="0"/>
                  <a:t>S</a:t>
                </a:r>
                <a:r>
                  <a:rPr dirty="0"/>
                  <a:t>election on regulariz</a:t>
                </a:r>
                <a:r>
                  <a:rPr lang="en-US" dirty="0"/>
                  <a:t>ation</a:t>
                </a:r>
                <a:r>
                  <a:rPr dirty="0"/>
                  <a:t> penalty is hard</a:t>
                </a:r>
              </a:p>
              <a:p>
                <a:pPr lvl="0"/>
                <a:r>
                  <a:rPr lang="en-US" dirty="0"/>
                  <a:t>D</a:t>
                </a:r>
                <a:r>
                  <a:rPr dirty="0"/>
                  <a:t>ependent variables</a:t>
                </a:r>
                <a:r>
                  <a:rPr lang="en-US" dirty="0"/>
                  <a:t> </a:t>
                </a:r>
                <a:r>
                  <a:rPr dirty="0"/>
                  <a:t>are often correlated, impossible to have perfect data that satisfy </a:t>
                </a:r>
                <a:r>
                  <a:rPr lang="en-US" dirty="0"/>
                  <a:t>regression </a:t>
                </a:r>
                <a:r>
                  <a:rPr dirty="0"/>
                  <a:t>assumption:</a:t>
                </a:r>
              </a:p>
              <a:p>
                <a:pPr lvl="1"/>
                <a:r>
                  <a:rPr lang="en-US" dirty="0"/>
                  <a:t>Homoscedasticity</a:t>
                </a:r>
                <a:r>
                  <a:rPr dirty="0"/>
                  <a:t>: equal variance over predictors</a:t>
                </a:r>
              </a:p>
              <a:p>
                <a:pPr lvl="1"/>
                <a:r>
                  <a:rPr lang="en-US" dirty="0"/>
                  <a:t>I</a:t>
                </a:r>
                <a:r>
                  <a:rPr dirty="0"/>
                  <a:t>ndependence: predictors are </a:t>
                </a:r>
                <a:r>
                  <a:rPr dirty="0" err="1"/>
                  <a:t>i</a:t>
                </a:r>
                <a:r>
                  <a:rPr lang="en-US" dirty="0" err="1"/>
                  <a:t>.</a:t>
                </a:r>
                <a:r>
                  <a:rPr dirty="0" err="1"/>
                  <a:t>i</a:t>
                </a:r>
                <a:r>
                  <a:rPr lang="en-US" dirty="0" err="1"/>
                  <a:t>.</a:t>
                </a:r>
                <a:r>
                  <a:rPr dirty="0" err="1"/>
                  <a:t>d</a:t>
                </a:r>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235" t="-2239" r="-1852" b="-1493"/>
                </a:stretch>
              </a:blipFill>
            </p:spPr>
            <p:txBody>
              <a:bodyPr/>
              <a:lstStyle/>
              <a:p>
                <a:r>
                  <a:rPr lang="en-CN">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lgn="l">
              <a:buNone/>
            </a:pPr>
            <a:r>
              <a:rPr dirty="0"/>
              <a:t>Motivation</a:t>
            </a:r>
          </a:p>
        </p:txBody>
      </p:sp>
      <p:sp>
        <p:nvSpPr>
          <p:cNvPr id="3" name="Content Placeholder 2"/>
          <p:cNvSpPr>
            <a:spLocks noGrp="1"/>
          </p:cNvSpPr>
          <p:nvPr>
            <p:ph idx="1"/>
          </p:nvPr>
        </p:nvSpPr>
        <p:spPr/>
        <p:txBody>
          <a:bodyPr/>
          <a:lstStyle/>
          <a:p>
            <a:pPr marL="0" lvl="0" indent="0">
              <a:buNone/>
            </a:pPr>
            <a:r>
              <a:rPr dirty="0"/>
              <a:t>Stability selection (</a:t>
            </a:r>
            <a:r>
              <a:rPr dirty="0" err="1"/>
              <a:t>Meinshausen</a:t>
            </a:r>
            <a:r>
              <a:rPr dirty="0"/>
              <a:t> &amp; </a:t>
            </a:r>
            <a:r>
              <a:rPr dirty="0" err="1"/>
              <a:t>Bühlmann</a:t>
            </a:r>
            <a:r>
              <a:rPr dirty="0"/>
              <a:t>, 2010) aims to evaluate how consistently variables are selected across </a:t>
            </a:r>
            <a:r>
              <a:rPr lang="en-US" dirty="0"/>
              <a:t>resampling and is effective when</a:t>
            </a:r>
            <a:r>
              <a:rPr dirty="0"/>
              <a:t>:</a:t>
            </a:r>
          </a:p>
          <a:p>
            <a:pPr marL="342900" lvl="0" indent="-342900">
              <a:buAutoNum type="arabicPeriod"/>
            </a:pPr>
            <a:r>
              <a:rPr dirty="0"/>
              <a:t>the sample size is small</a:t>
            </a:r>
          </a:p>
          <a:p>
            <a:pPr marL="342900" lvl="0" indent="-342900">
              <a:buAutoNum type="arabicPeriod"/>
            </a:pPr>
            <a:r>
              <a:rPr dirty="0"/>
              <a:t>the number of predictors is large</a:t>
            </a:r>
          </a:p>
          <a:p>
            <a:pPr marL="342900" lvl="0" indent="-342900">
              <a:buAutoNum type="arabicPeriod"/>
            </a:pPr>
            <a:r>
              <a:rPr dirty="0"/>
              <a:t>the assumptions on linear regression is violated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lgn="l">
              <a:buNone/>
            </a:pPr>
            <a:r>
              <a:rPr dirty="0"/>
              <a:t>Procedure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063229"/>
                <a:ext cx="8229600" cy="3394472"/>
              </a:xfrm>
            </p:spPr>
            <p:txBody>
              <a:bodyPr>
                <a:noAutofit/>
              </a:bodyPr>
              <a:lstStyle/>
              <a:p>
                <a:pPr marL="342900" lvl="0" indent="-342900">
                  <a:buAutoNum type="arabicPeriod"/>
                </a:pPr>
                <a:r>
                  <a:rPr sz="2000" dirty="0"/>
                  <a:t>Define </a:t>
                </a:r>
                <a14:m>
                  <m:oMath xmlns:m="http://schemas.openxmlformats.org/officeDocument/2006/math">
                    <m:r>
                      <a:rPr sz="2000">
                        <a:latin typeface="Cambria Math" panose="02040503050406030204" pitchFamily="18" charset="0"/>
                      </a:rPr>
                      <m:t>𝑞</m:t>
                    </m:r>
                    <m:r>
                      <a:rPr sz="2000">
                        <a:latin typeface="Cambria Math" panose="02040503050406030204" pitchFamily="18" charset="0"/>
                      </a:rPr>
                      <m:t>=</m:t>
                    </m:r>
                    <m:rad>
                      <m:radPr>
                        <m:degHide m:val="on"/>
                        <m:ctrlPr>
                          <a:rPr sz="2000" i="1">
                            <a:latin typeface="Cambria Math" panose="02040503050406030204" pitchFamily="18" charset="0"/>
                          </a:rPr>
                        </m:ctrlPr>
                      </m:radPr>
                      <m:deg/>
                      <m:e>
                        <m:r>
                          <a:rPr sz="2000">
                            <a:latin typeface="Cambria Math" panose="02040503050406030204" pitchFamily="18" charset="0"/>
                          </a:rPr>
                          <m:t>0.8</m:t>
                        </m:r>
                        <m:r>
                          <a:rPr sz="2000">
                            <a:latin typeface="Cambria Math" panose="02040503050406030204" pitchFamily="18" charset="0"/>
                          </a:rPr>
                          <m:t>𝑝</m:t>
                        </m:r>
                      </m:e>
                    </m:rad>
                  </m:oMath>
                </a14:m>
                <a:r>
                  <a:rPr sz="2000" dirty="0"/>
                  <a:t> that specify maximum number of </a:t>
                </a:r>
                <a:r>
                  <a:rPr lang="en-US" sz="2000" dirty="0"/>
                  <a:t>variables with nonzero coefficients </a:t>
                </a:r>
                <a:r>
                  <a:rPr sz="2000" dirty="0"/>
                  <a:t>at each regularization level.</a:t>
                </a:r>
              </a:p>
              <a:p>
                <a:pPr marL="342900" lvl="0" indent="-342900">
                  <a:buAutoNum type="arabicPeriod"/>
                </a:pPr>
                <a:r>
                  <a:rPr sz="2000" dirty="0"/>
                  <a:t>The regularization region </a:t>
                </a:r>
                <a14:m>
                  <m:oMath xmlns:m="http://schemas.openxmlformats.org/officeDocument/2006/math">
                    <m:r>
                      <a:rPr sz="2000">
                        <a:latin typeface="Cambria Math" panose="02040503050406030204" pitchFamily="18" charset="0"/>
                      </a:rPr>
                      <m:t>𝛬</m:t>
                    </m:r>
                    <m:r>
                      <a:rPr sz="2000">
                        <a:latin typeface="Cambria Math" panose="02040503050406030204" pitchFamily="18" charset="0"/>
                      </a:rPr>
                      <m:t>={</m:t>
                    </m:r>
                    <m:sSub>
                      <m:sSubPr>
                        <m:ctrlPr>
                          <a:rPr sz="2000" i="1">
                            <a:latin typeface="Cambria Math" panose="02040503050406030204" pitchFamily="18" charset="0"/>
                          </a:rPr>
                        </m:ctrlPr>
                      </m:sSubPr>
                      <m:e>
                        <m:r>
                          <a:rPr sz="2000">
                            <a:latin typeface="Cambria Math" panose="02040503050406030204" pitchFamily="18" charset="0"/>
                          </a:rPr>
                          <m:t>𝜆</m:t>
                        </m:r>
                      </m:e>
                      <m:sub>
                        <m:r>
                          <a:rPr sz="2000">
                            <a:latin typeface="Cambria Math" panose="02040503050406030204" pitchFamily="18" charset="0"/>
                          </a:rPr>
                          <m:t>1</m:t>
                        </m:r>
                      </m:sub>
                    </m:sSub>
                    <m:r>
                      <a:rPr sz="2000">
                        <a:latin typeface="Cambria Math" panose="02040503050406030204" pitchFamily="18" charset="0"/>
                      </a:rPr>
                      <m:t>,</m:t>
                    </m:r>
                    <m:sSub>
                      <m:sSubPr>
                        <m:ctrlPr>
                          <a:rPr sz="2000" i="1">
                            <a:latin typeface="Cambria Math" panose="02040503050406030204" pitchFamily="18" charset="0"/>
                          </a:rPr>
                        </m:ctrlPr>
                      </m:sSubPr>
                      <m:e>
                        <m:r>
                          <a:rPr sz="2000">
                            <a:latin typeface="Cambria Math" panose="02040503050406030204" pitchFamily="18" charset="0"/>
                          </a:rPr>
                          <m:t>𝜆</m:t>
                        </m:r>
                      </m:e>
                      <m:sub>
                        <m:r>
                          <a:rPr sz="2000">
                            <a:latin typeface="Cambria Math" panose="02040503050406030204" pitchFamily="18" charset="0"/>
                          </a:rPr>
                          <m:t>2</m:t>
                        </m:r>
                      </m:sub>
                    </m:sSub>
                    <m:r>
                      <a:rPr sz="2000">
                        <a:latin typeface="Cambria Math" panose="02040503050406030204" pitchFamily="18" charset="0"/>
                      </a:rPr>
                      <m:t>,...,</m:t>
                    </m:r>
                    <m:sSub>
                      <m:sSubPr>
                        <m:ctrlPr>
                          <a:rPr sz="2000" i="1">
                            <a:latin typeface="Cambria Math" panose="02040503050406030204" pitchFamily="18" charset="0"/>
                          </a:rPr>
                        </m:ctrlPr>
                      </m:sSubPr>
                      <m:e>
                        <m:r>
                          <a:rPr sz="2000">
                            <a:latin typeface="Cambria Math" panose="02040503050406030204" pitchFamily="18" charset="0"/>
                          </a:rPr>
                          <m:t>𝜆</m:t>
                        </m:r>
                      </m:e>
                      <m:sub>
                        <m:r>
                          <a:rPr sz="2000">
                            <a:latin typeface="Cambria Math" panose="02040503050406030204" pitchFamily="18" charset="0"/>
                          </a:rPr>
                          <m:t>𝑙</m:t>
                        </m:r>
                      </m:sub>
                    </m:sSub>
                    <m:r>
                      <a:rPr sz="2000">
                        <a:latin typeface="Cambria Math" panose="02040503050406030204" pitchFamily="18" charset="0"/>
                      </a:rPr>
                      <m:t>}</m:t>
                    </m:r>
                  </m:oMath>
                </a14:m>
                <a:r>
                  <a:rPr sz="2000" dirty="0"/>
                  <a:t> has the in</a:t>
                </a:r>
                <a:r>
                  <a:rPr lang="en-US" sz="2000" dirty="0"/>
                  <a:t>t</a:t>
                </a:r>
                <a:r>
                  <a:rPr sz="2000" dirty="0"/>
                  <a:t>erval </a:t>
                </a:r>
                <a14:m>
                  <m:oMath xmlns:m="http://schemas.openxmlformats.org/officeDocument/2006/math">
                    <m:d>
                      <m:dPr>
                        <m:begChr m:val="["/>
                        <m:endChr m:val="]"/>
                        <m:ctrlPr>
                          <a:rPr sz="2000" i="1">
                            <a:latin typeface="Cambria Math" panose="02040503050406030204" pitchFamily="18" charset="0"/>
                          </a:rPr>
                        </m:ctrlPr>
                      </m:dPr>
                      <m:e>
                        <m:sSub>
                          <m:sSubPr>
                            <m:ctrlPr>
                              <a:rPr sz="2000" i="1">
                                <a:latin typeface="Cambria Math" panose="02040503050406030204" pitchFamily="18" charset="0"/>
                              </a:rPr>
                            </m:ctrlPr>
                          </m:sSubPr>
                          <m:e>
                            <m:r>
                              <a:rPr sz="2000">
                                <a:latin typeface="Cambria Math" panose="02040503050406030204" pitchFamily="18" charset="0"/>
                              </a:rPr>
                              <m:t>𝜆</m:t>
                            </m:r>
                          </m:e>
                          <m:sub>
                            <m:r>
                              <a:rPr sz="2000">
                                <a:latin typeface="Cambria Math" panose="02040503050406030204" pitchFamily="18" charset="0"/>
                              </a:rPr>
                              <m:t>𝑚𝑖𝑛</m:t>
                            </m:r>
                          </m:sub>
                        </m:sSub>
                        <m:r>
                          <a:rPr sz="2000">
                            <a:latin typeface="Cambria Math" panose="02040503050406030204" pitchFamily="18" charset="0"/>
                          </a:rPr>
                          <m:t>,</m:t>
                        </m:r>
                        <m:sSub>
                          <m:sSubPr>
                            <m:ctrlPr>
                              <a:rPr sz="2000" i="1">
                                <a:latin typeface="Cambria Math" panose="02040503050406030204" pitchFamily="18" charset="0"/>
                              </a:rPr>
                            </m:ctrlPr>
                          </m:sSubPr>
                          <m:e>
                            <m:r>
                              <a:rPr sz="2000">
                                <a:latin typeface="Cambria Math" panose="02040503050406030204" pitchFamily="18" charset="0"/>
                              </a:rPr>
                              <m:t>𝜆</m:t>
                            </m:r>
                          </m:e>
                          <m:sub>
                            <m:r>
                              <a:rPr sz="2000">
                                <a:latin typeface="Cambria Math" panose="02040503050406030204" pitchFamily="18" charset="0"/>
                              </a:rPr>
                              <m:t>𝑚𝑎𝑥</m:t>
                            </m:r>
                          </m:sub>
                        </m:sSub>
                      </m:e>
                    </m:d>
                  </m:oMath>
                </a14:m>
                <a:r>
                  <a:rPr sz="2000" dirty="0"/>
                  <a:t> and is defined such that for all </a:t>
                </a:r>
                <a14:m>
                  <m:oMath xmlns:m="http://schemas.openxmlformats.org/officeDocument/2006/math">
                    <m:r>
                      <a:rPr sz="2000">
                        <a:latin typeface="Cambria Math" panose="02040503050406030204" pitchFamily="18" charset="0"/>
                      </a:rPr>
                      <m:t>𝜆</m:t>
                    </m:r>
                    <m:r>
                      <a:rPr sz="2000">
                        <a:latin typeface="Cambria Math" panose="02040503050406030204" pitchFamily="18" charset="0"/>
                      </a:rPr>
                      <m:t>∈</m:t>
                    </m:r>
                    <m:r>
                      <a:rPr sz="2000">
                        <a:latin typeface="Cambria Math" panose="02040503050406030204" pitchFamily="18" charset="0"/>
                      </a:rPr>
                      <m:t>𝛬</m:t>
                    </m:r>
                    <m:r>
                      <a:rPr sz="2000">
                        <a:latin typeface="Cambria Math" panose="02040503050406030204" pitchFamily="18" charset="0"/>
                      </a:rPr>
                      <m:t>,</m:t>
                    </m:r>
                    <m:d>
                      <m:dPr>
                        <m:begChr m:val="|"/>
                        <m:endChr m:val="|"/>
                        <m:ctrlPr>
                          <a:rPr sz="2000" i="1">
                            <a:latin typeface="Cambria Math" panose="02040503050406030204" pitchFamily="18" charset="0"/>
                          </a:rPr>
                        </m:ctrlPr>
                      </m:dPr>
                      <m:e>
                        <m:sSup>
                          <m:sSupPr>
                            <m:ctrlPr>
                              <a:rPr sz="2000" i="1">
                                <a:latin typeface="Cambria Math" panose="02040503050406030204" pitchFamily="18" charset="0"/>
                              </a:rPr>
                            </m:ctrlPr>
                          </m:sSupPr>
                          <m:e>
                            <m:r>
                              <a:rPr sz="2000">
                                <a:latin typeface="Cambria Math" panose="02040503050406030204" pitchFamily="18" charset="0"/>
                              </a:rPr>
                              <m:t>𝑆</m:t>
                            </m:r>
                          </m:e>
                          <m:sup>
                            <m:r>
                              <a:rPr sz="2000">
                                <a:latin typeface="Cambria Math" panose="02040503050406030204" pitchFamily="18" charset="0"/>
                              </a:rPr>
                              <m:t>𝜆</m:t>
                            </m:r>
                          </m:sup>
                        </m:sSup>
                      </m:e>
                    </m:d>
                    <m:r>
                      <a:rPr sz="2000">
                        <a:latin typeface="Cambria Math" panose="02040503050406030204" pitchFamily="18" charset="0"/>
                      </a:rPr>
                      <m:t>≤</m:t>
                    </m:r>
                    <m:r>
                      <a:rPr sz="2000">
                        <a:latin typeface="Cambria Math" panose="02040503050406030204" pitchFamily="18" charset="0"/>
                      </a:rPr>
                      <m:t>𝑞</m:t>
                    </m:r>
                  </m:oMath>
                </a14:m>
                <a:r>
                  <a:rPr sz="2000" dirty="0"/>
                  <a:t>, which ensures that no more than </a:t>
                </a:r>
                <a14:m>
                  <m:oMath xmlns:m="http://schemas.openxmlformats.org/officeDocument/2006/math">
                    <m:r>
                      <a:rPr sz="2000">
                        <a:latin typeface="Cambria Math" panose="02040503050406030204" pitchFamily="18" charset="0"/>
                      </a:rPr>
                      <m:t>𝑞</m:t>
                    </m:r>
                  </m:oMath>
                </a14:m>
                <a:r>
                  <a:rPr sz="2000" dirty="0"/>
                  <a:t> distinct variables contribute to the model across all regularization parameters.</a:t>
                </a:r>
              </a:p>
              <a:p>
                <a:pPr marL="342900" lvl="0" indent="-342900">
                  <a:buAutoNum type="arabicPeriod"/>
                </a:pPr>
                <a:r>
                  <a:rPr sz="2000" dirty="0"/>
                  <a:t>For </a:t>
                </a:r>
                <a14:m>
                  <m:oMath xmlns:m="http://schemas.openxmlformats.org/officeDocument/2006/math">
                    <m:r>
                      <a:rPr sz="2000">
                        <a:latin typeface="Cambria Math" panose="02040503050406030204" pitchFamily="18" charset="0"/>
                      </a:rPr>
                      <m:t>𝑏</m:t>
                    </m:r>
                    <m:r>
                      <a:rPr sz="2000">
                        <a:latin typeface="Cambria Math" panose="02040503050406030204" pitchFamily="18" charset="0"/>
                      </a:rPr>
                      <m:t>=1,...,</m:t>
                    </m:r>
                    <m:r>
                      <a:rPr sz="2000">
                        <a:latin typeface="Cambria Math" panose="02040503050406030204" pitchFamily="18" charset="0"/>
                      </a:rPr>
                      <m:t>𝐵</m:t>
                    </m:r>
                  </m:oMath>
                </a14:m>
                <a:r>
                  <a:rPr sz="2000" dirty="0"/>
                  <a:t>,</a:t>
                </a:r>
              </a:p>
              <a:p>
                <a:pPr lvl="0"/>
                <a:r>
                  <a:rPr sz="2000" dirty="0"/>
                  <a:t>Draw a subsample </a:t>
                </a:r>
                <a14:m>
                  <m:oMath xmlns:m="http://schemas.openxmlformats.org/officeDocument/2006/math">
                    <m:sSub>
                      <m:sSubPr>
                        <m:ctrlPr>
                          <a:rPr sz="2000" i="1">
                            <a:latin typeface="Cambria Math" panose="02040503050406030204" pitchFamily="18" charset="0"/>
                          </a:rPr>
                        </m:ctrlPr>
                      </m:sSubPr>
                      <m:e>
                        <m:r>
                          <a:rPr sz="2000">
                            <a:latin typeface="Cambria Math" panose="02040503050406030204" pitchFamily="18" charset="0"/>
                          </a:rPr>
                          <m:t>𝐼</m:t>
                        </m:r>
                      </m:e>
                      <m:sub>
                        <m:r>
                          <a:rPr sz="2000">
                            <a:latin typeface="Cambria Math" panose="02040503050406030204" pitchFamily="18" charset="0"/>
                          </a:rPr>
                          <m:t>𝑏</m:t>
                        </m:r>
                      </m:sub>
                    </m:sSub>
                    <m:r>
                      <a:rPr sz="2000">
                        <a:latin typeface="Cambria Math" panose="02040503050406030204" pitchFamily="18" charset="0"/>
                      </a:rPr>
                      <m:t>⊂1,...,</m:t>
                    </m:r>
                    <m:r>
                      <a:rPr sz="2000">
                        <a:latin typeface="Cambria Math" panose="02040503050406030204" pitchFamily="18" charset="0"/>
                      </a:rPr>
                      <m:t>𝑛</m:t>
                    </m:r>
                    <m:r>
                      <a:rPr sz="2000">
                        <a:latin typeface="Cambria Math" panose="02040503050406030204" pitchFamily="18" charset="0"/>
                      </a:rPr>
                      <m:t>,</m:t>
                    </m:r>
                    <m:d>
                      <m:dPr>
                        <m:begChr m:val="|"/>
                        <m:endChr m:val="|"/>
                        <m:ctrlPr>
                          <a:rPr sz="2000" i="1">
                            <a:latin typeface="Cambria Math" panose="02040503050406030204" pitchFamily="18" charset="0"/>
                          </a:rPr>
                        </m:ctrlPr>
                      </m:dPr>
                      <m:e>
                        <m:sSub>
                          <m:sSubPr>
                            <m:ctrlPr>
                              <a:rPr sz="2000" i="1">
                                <a:latin typeface="Cambria Math" panose="02040503050406030204" pitchFamily="18" charset="0"/>
                              </a:rPr>
                            </m:ctrlPr>
                          </m:sSubPr>
                          <m:e>
                            <m:r>
                              <a:rPr sz="2000">
                                <a:latin typeface="Cambria Math" panose="02040503050406030204" pitchFamily="18" charset="0"/>
                              </a:rPr>
                              <m:t>𝐼</m:t>
                            </m:r>
                          </m:e>
                          <m:sub>
                            <m:r>
                              <a:rPr sz="2000">
                                <a:latin typeface="Cambria Math" panose="02040503050406030204" pitchFamily="18" charset="0"/>
                              </a:rPr>
                              <m:t>𝑏</m:t>
                            </m:r>
                          </m:sub>
                        </m:sSub>
                      </m:e>
                    </m:d>
                    <m:r>
                      <a:rPr sz="2000">
                        <a:latin typeface="Cambria Math" panose="02040503050406030204" pitchFamily="18" charset="0"/>
                      </a:rPr>
                      <m:t>=</m:t>
                    </m:r>
                    <m:f>
                      <m:fPr>
                        <m:ctrlPr>
                          <a:rPr sz="2000" i="1">
                            <a:latin typeface="Cambria Math" panose="02040503050406030204" pitchFamily="18" charset="0"/>
                          </a:rPr>
                        </m:ctrlPr>
                      </m:fPr>
                      <m:num>
                        <m:r>
                          <a:rPr sz="2000">
                            <a:latin typeface="Cambria Math" panose="02040503050406030204" pitchFamily="18" charset="0"/>
                          </a:rPr>
                          <m:t>𝑛</m:t>
                        </m:r>
                      </m:num>
                      <m:den>
                        <m:r>
                          <a:rPr sz="2000">
                            <a:latin typeface="Cambria Math" panose="02040503050406030204" pitchFamily="18" charset="0"/>
                          </a:rPr>
                          <m:t>2</m:t>
                        </m:r>
                      </m:den>
                    </m:f>
                  </m:oMath>
                </a14:m>
                <a:endParaRPr sz="2000" dirty="0"/>
              </a:p>
              <a:p>
                <a:pPr lvl="0"/>
                <a:r>
                  <a:rPr sz="2000" dirty="0"/>
                  <a:t>Let </a:t>
                </a:r>
                <a14:m>
                  <m:oMath xmlns:m="http://schemas.openxmlformats.org/officeDocument/2006/math">
                    <m:sSup>
                      <m:sSupPr>
                        <m:ctrlPr>
                          <a:rPr sz="2000" i="1">
                            <a:latin typeface="Cambria Math" panose="02040503050406030204" pitchFamily="18" charset="0"/>
                          </a:rPr>
                        </m:ctrlPr>
                      </m:sSupPr>
                      <m:e>
                        <m:r>
                          <a:rPr sz="2000">
                            <a:latin typeface="Cambria Math" panose="02040503050406030204" pitchFamily="18" charset="0"/>
                          </a:rPr>
                          <m:t>𝑋</m:t>
                        </m:r>
                      </m:e>
                      <m:sup>
                        <m:d>
                          <m:dPr>
                            <m:ctrlPr>
                              <a:rPr sz="2000" i="1">
                                <a:latin typeface="Cambria Math" panose="02040503050406030204" pitchFamily="18" charset="0"/>
                              </a:rPr>
                            </m:ctrlPr>
                          </m:dPr>
                          <m:e>
                            <m:r>
                              <a:rPr sz="2000">
                                <a:latin typeface="Cambria Math" panose="02040503050406030204" pitchFamily="18" charset="0"/>
                              </a:rPr>
                              <m:t>𝑏</m:t>
                            </m:r>
                          </m:e>
                        </m:d>
                      </m:sup>
                    </m:sSup>
                    <m:r>
                      <a:rPr sz="2000">
                        <a:latin typeface="Cambria Math" panose="02040503050406030204" pitchFamily="18" charset="0"/>
                      </a:rPr>
                      <m:t>=</m:t>
                    </m:r>
                    <m:sSub>
                      <m:sSubPr>
                        <m:ctrlPr>
                          <a:rPr sz="2000" i="1">
                            <a:latin typeface="Cambria Math" panose="02040503050406030204" pitchFamily="18" charset="0"/>
                          </a:rPr>
                        </m:ctrlPr>
                      </m:sSubPr>
                      <m:e>
                        <m:r>
                          <a:rPr sz="2000">
                            <a:latin typeface="Cambria Math" panose="02040503050406030204" pitchFamily="18" charset="0"/>
                          </a:rPr>
                          <m:t>𝑋</m:t>
                        </m:r>
                      </m:e>
                      <m:sub>
                        <m:sSub>
                          <m:sSubPr>
                            <m:ctrlPr>
                              <a:rPr sz="2000" i="1">
                                <a:latin typeface="Cambria Math" panose="02040503050406030204" pitchFamily="18" charset="0"/>
                              </a:rPr>
                            </m:ctrlPr>
                          </m:sSubPr>
                          <m:e>
                            <m:r>
                              <a:rPr sz="2000">
                                <a:latin typeface="Cambria Math" panose="02040503050406030204" pitchFamily="18" charset="0"/>
                              </a:rPr>
                              <m:t>𝐼</m:t>
                            </m:r>
                          </m:e>
                          <m:sub>
                            <m:r>
                              <a:rPr sz="2000">
                                <a:latin typeface="Cambria Math" panose="02040503050406030204" pitchFamily="18" charset="0"/>
                              </a:rPr>
                              <m:t>𝑏</m:t>
                            </m:r>
                          </m:sub>
                        </m:sSub>
                      </m:sub>
                    </m:sSub>
                    <m:r>
                      <a:rPr sz="2000">
                        <a:latin typeface="Cambria Math" panose="02040503050406030204" pitchFamily="18" charset="0"/>
                      </a:rPr>
                      <m:t>,</m:t>
                    </m:r>
                    <m:sSup>
                      <m:sSupPr>
                        <m:ctrlPr>
                          <a:rPr sz="2000" i="1">
                            <a:latin typeface="Cambria Math" panose="02040503050406030204" pitchFamily="18" charset="0"/>
                          </a:rPr>
                        </m:ctrlPr>
                      </m:sSupPr>
                      <m:e>
                        <m:r>
                          <a:rPr sz="2000">
                            <a:latin typeface="Cambria Math" panose="02040503050406030204" pitchFamily="18" charset="0"/>
                          </a:rPr>
                          <m:t>𝑦</m:t>
                        </m:r>
                      </m:e>
                      <m:sup>
                        <m:d>
                          <m:dPr>
                            <m:ctrlPr>
                              <a:rPr sz="2000" i="1">
                                <a:latin typeface="Cambria Math" panose="02040503050406030204" pitchFamily="18" charset="0"/>
                              </a:rPr>
                            </m:ctrlPr>
                          </m:dPr>
                          <m:e>
                            <m:r>
                              <a:rPr sz="2000">
                                <a:latin typeface="Cambria Math" panose="02040503050406030204" pitchFamily="18" charset="0"/>
                              </a:rPr>
                              <m:t>𝑏</m:t>
                            </m:r>
                          </m:e>
                        </m:d>
                      </m:sup>
                    </m:sSup>
                    <m:r>
                      <a:rPr sz="2000">
                        <a:latin typeface="Cambria Math" panose="02040503050406030204" pitchFamily="18" charset="0"/>
                      </a:rPr>
                      <m:t>=</m:t>
                    </m:r>
                    <m:sSub>
                      <m:sSubPr>
                        <m:ctrlPr>
                          <a:rPr sz="2000" i="1">
                            <a:latin typeface="Cambria Math" panose="02040503050406030204" pitchFamily="18" charset="0"/>
                          </a:rPr>
                        </m:ctrlPr>
                      </m:sSubPr>
                      <m:e>
                        <m:r>
                          <a:rPr sz="2000">
                            <a:latin typeface="Cambria Math" panose="02040503050406030204" pitchFamily="18" charset="0"/>
                          </a:rPr>
                          <m:t>𝑦</m:t>
                        </m:r>
                      </m:e>
                      <m:sub>
                        <m:sSub>
                          <m:sSubPr>
                            <m:ctrlPr>
                              <a:rPr sz="2000" i="1">
                                <a:latin typeface="Cambria Math" panose="02040503050406030204" pitchFamily="18" charset="0"/>
                              </a:rPr>
                            </m:ctrlPr>
                          </m:sSubPr>
                          <m:e>
                            <m:r>
                              <a:rPr sz="2000">
                                <a:latin typeface="Cambria Math" panose="02040503050406030204" pitchFamily="18" charset="0"/>
                              </a:rPr>
                              <m:t>𝐼</m:t>
                            </m:r>
                          </m:e>
                          <m:sub>
                            <m:r>
                              <a:rPr sz="2000">
                                <a:latin typeface="Cambria Math" panose="02040503050406030204" pitchFamily="18" charset="0"/>
                              </a:rPr>
                              <m:t>𝑏</m:t>
                            </m:r>
                          </m:sub>
                        </m:sSub>
                      </m:sub>
                    </m:sSub>
                  </m:oMath>
                </a14:m>
                <a:endParaRPr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063229"/>
                <a:ext cx="8229600" cy="3394472"/>
              </a:xfrm>
              <a:blipFill>
                <a:blip r:embed="rId3"/>
                <a:stretch>
                  <a:fillRect l="-772" b="-1866"/>
                </a:stretch>
              </a:blipFill>
            </p:spPr>
            <p:txBody>
              <a:bodyPr/>
              <a:lstStyle/>
              <a:p>
                <a:r>
                  <a:rPr lang="en-CN">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4A109-B601-7656-5DFF-F6B81AA71D74}"/>
              </a:ext>
            </a:extLst>
          </p:cNvPr>
          <p:cNvSpPr>
            <a:spLocks noGrp="1"/>
          </p:cNvSpPr>
          <p:nvPr>
            <p:ph type="title"/>
          </p:nvPr>
        </p:nvSpPr>
        <p:spPr/>
        <p:txBody>
          <a:bodyPr/>
          <a:lstStyle/>
          <a:p>
            <a:pPr algn="l"/>
            <a:r>
              <a:rPr lang="en-CN" dirty="0"/>
              <a:t>Procedure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F8E4895-C8AF-BBB3-2A1D-00AE6BC3AED6}"/>
                  </a:ext>
                </a:extLst>
              </p:cNvPr>
              <p:cNvSpPr>
                <a:spLocks noGrp="1"/>
              </p:cNvSpPr>
              <p:nvPr>
                <p:ph idx="1"/>
              </p:nvPr>
            </p:nvSpPr>
            <p:spPr>
              <a:xfrm>
                <a:off x="457200" y="962407"/>
                <a:ext cx="8229600" cy="3394472"/>
              </a:xfrm>
            </p:spPr>
            <p:txBody>
              <a:bodyPr>
                <a:noAutofit/>
              </a:bodyPr>
              <a:lstStyle/>
              <a:p>
                <a:pPr marL="0" lvl="0" indent="0">
                  <a:buNone/>
                </a:pPr>
                <a:r>
                  <a:rPr lang="en-US" sz="2000" dirty="0"/>
                  <a:t>4. For each value </a:t>
                </a:r>
                <a14:m>
                  <m:oMath xmlns:m="http://schemas.openxmlformats.org/officeDocument/2006/math">
                    <m:r>
                      <a:rPr lang="en-US" sz="2000">
                        <a:latin typeface="Cambria Math" panose="02040503050406030204" pitchFamily="18" charset="0"/>
                      </a:rPr>
                      <m:t>𝜆</m:t>
                    </m:r>
                    <m:r>
                      <a:rPr lang="en-US" sz="2000">
                        <a:latin typeface="Cambria Math" panose="02040503050406030204" pitchFamily="18" charset="0"/>
                      </a:rPr>
                      <m:t>∈</m:t>
                    </m:r>
                    <m:r>
                      <a:rPr lang="en-US" sz="2000">
                        <a:latin typeface="Cambria Math" panose="02040503050406030204" pitchFamily="18" charset="0"/>
                      </a:rPr>
                      <m:t>𝛬</m:t>
                    </m:r>
                  </m:oMath>
                </a14:m>
                <a:r>
                  <a:rPr lang="en-US" sz="2000" dirty="0"/>
                  <a:t>:</a:t>
                </a:r>
              </a:p>
              <a:p>
                <a:pPr marL="342900" lvl="1" indent="0">
                  <a:buNone/>
                </a:pPr>
                <a:r>
                  <a:rPr lang="en-US" sz="2000" dirty="0"/>
                  <a:t>For each </a:t>
                </a:r>
                <a14:m>
                  <m:oMath xmlns:m="http://schemas.openxmlformats.org/officeDocument/2006/math">
                    <m:r>
                      <a:rPr lang="en-US" sz="2000">
                        <a:latin typeface="Cambria Math" panose="02040503050406030204" pitchFamily="18" charset="0"/>
                      </a:rPr>
                      <m:t>𝑏</m:t>
                    </m:r>
                    <m:r>
                      <a:rPr lang="en-US" sz="2000">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a:latin typeface="Cambria Math" panose="02040503050406030204" pitchFamily="18" charset="0"/>
                          </a:rPr>
                          <m:t>1,...,</m:t>
                        </m:r>
                        <m:r>
                          <a:rPr lang="en-US" sz="2000">
                            <a:latin typeface="Cambria Math" panose="02040503050406030204" pitchFamily="18" charset="0"/>
                          </a:rPr>
                          <m:t>𝐵</m:t>
                        </m:r>
                      </m:e>
                    </m:d>
                    <m:r>
                      <a:rPr lang="en-US" sz="2000" b="0" i="0" smtClean="0">
                        <a:latin typeface="Cambria Math" panose="02040503050406030204" pitchFamily="18" charset="0"/>
                      </a:rPr>
                      <m:t>:</m:t>
                    </m:r>
                  </m:oMath>
                </a14:m>
                <a:endParaRPr lang="en-US" sz="2000" dirty="0"/>
              </a:p>
              <a:p>
                <a:pPr lvl="1"/>
                <a:r>
                  <a:rPr lang="en-US" sz="2000" dirty="0"/>
                  <a:t>Fit a lasso estimator on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𝑏</m:t>
                        </m:r>
                      </m:sub>
                    </m:sSub>
                    <m:r>
                      <a:rPr lang="en-US" sz="2000" b="0" i="0" smtClean="0">
                        <a:latin typeface="Cambria Math" panose="02040503050406030204" pitchFamily="18" charset="0"/>
                      </a:rPr>
                      <m:t> </m:t>
                    </m:r>
                  </m:oMath>
                </a14:m>
                <a:r>
                  <a:rPr lang="en-US" sz="2000" dirty="0"/>
                  <a:t>with regularization parameter </a:t>
                </a:r>
                <a14:m>
                  <m:oMath xmlns:m="http://schemas.openxmlformats.org/officeDocument/2006/math">
                    <m:r>
                      <a:rPr lang="en-US" sz="2000">
                        <a:latin typeface="Cambria Math" panose="02040503050406030204" pitchFamily="18" charset="0"/>
                      </a:rPr>
                      <m:t>𝜆</m:t>
                    </m:r>
                  </m:oMath>
                </a14:m>
                <a:r>
                  <a:rPr lang="en-US" sz="2000" dirty="0"/>
                  <a:t>:</a:t>
                </a:r>
              </a:p>
              <a:p>
                <a:pPr marL="685800" lvl="2" indent="0">
                  <a:buNone/>
                </a:pPr>
                <a14:m>
                  <m:oMathPara xmlns:m="http://schemas.openxmlformats.org/officeDocument/2006/math">
                    <m:oMathParaPr>
                      <m:jc m:val="centerGroup"/>
                    </m:oMathParaPr>
                    <m:oMath xmlns:m="http://schemas.openxmlformats.org/officeDocument/2006/math">
                      <m:sSup>
                        <m:sSupPr>
                          <m:ctrlPr>
                            <a:rPr lang="ar-AE" sz="2000" i="1">
                              <a:latin typeface="Cambria Math" panose="02040503050406030204" pitchFamily="18" charset="0"/>
                            </a:rPr>
                          </m:ctrlPr>
                        </m:sSupPr>
                        <m:e>
                          <m:acc>
                            <m:accPr>
                              <m:chr m:val="̂"/>
                              <m:ctrlPr>
                                <a:rPr lang="ar-AE" sz="2000" i="1">
                                  <a:latin typeface="Cambria Math" panose="02040503050406030204" pitchFamily="18" charset="0"/>
                                </a:rPr>
                              </m:ctrlPr>
                            </m:accPr>
                            <m:e>
                              <m:r>
                                <a:rPr lang="ar-AE" sz="2000">
                                  <a:latin typeface="Cambria Math" panose="02040503050406030204" pitchFamily="18" charset="0"/>
                                </a:rPr>
                                <m:t>𝛽</m:t>
                              </m:r>
                            </m:e>
                          </m:acc>
                        </m:e>
                        <m:sup>
                          <m:d>
                            <m:dPr>
                              <m:ctrlPr>
                                <a:rPr lang="ar-AE" sz="2000" i="1">
                                  <a:latin typeface="Cambria Math" panose="02040503050406030204" pitchFamily="18" charset="0"/>
                                </a:rPr>
                              </m:ctrlPr>
                            </m:dPr>
                            <m:e>
                              <m:r>
                                <a:rPr lang="ar-AE" sz="2000">
                                  <a:latin typeface="Cambria Math" panose="02040503050406030204" pitchFamily="18" charset="0"/>
                                </a:rPr>
                                <m:t>𝑏</m:t>
                              </m:r>
                            </m:e>
                          </m:d>
                        </m:sup>
                      </m:sSup>
                      <m:d>
                        <m:dPr>
                          <m:ctrlPr>
                            <a:rPr lang="ar-AE" sz="2000" i="1">
                              <a:latin typeface="Cambria Math" panose="02040503050406030204" pitchFamily="18" charset="0"/>
                            </a:rPr>
                          </m:ctrlPr>
                        </m:dPr>
                        <m:e>
                          <m:r>
                            <a:rPr lang="ar-AE" sz="2000">
                              <a:latin typeface="Cambria Math" panose="02040503050406030204" pitchFamily="18" charset="0"/>
                            </a:rPr>
                            <m:t>𝜆</m:t>
                          </m:r>
                        </m:e>
                      </m:d>
                      <m:r>
                        <a:rPr lang="ar-AE" sz="2000">
                          <a:latin typeface="Cambria Math" panose="02040503050406030204" pitchFamily="18" charset="0"/>
                        </a:rPr>
                        <m:t>=</m:t>
                      </m:r>
                      <m:sSub>
                        <m:sSubPr>
                          <m:ctrlPr>
                            <a:rPr lang="ar-AE" sz="2000" i="1">
                              <a:latin typeface="Cambria Math" panose="02040503050406030204" pitchFamily="18" charset="0"/>
                            </a:rPr>
                          </m:ctrlPr>
                        </m:sSubPr>
                        <m:e>
                          <m:r>
                            <m:rPr>
                              <m:sty m:val="p"/>
                            </m:rPr>
                            <a:rPr lang="en-US" sz="2000">
                              <a:latin typeface="Cambria Math" panose="02040503050406030204" pitchFamily="18" charset="0"/>
                            </a:rPr>
                            <m:t>min</m:t>
                          </m:r>
                        </m:e>
                        <m:sub>
                          <m:r>
                            <a:rPr lang="ar-AE" sz="2000">
                              <a:latin typeface="Cambria Math" panose="02040503050406030204" pitchFamily="18" charset="0"/>
                            </a:rPr>
                            <m:t>𝛽</m:t>
                          </m:r>
                        </m:sub>
                      </m:sSub>
                      <m:d>
                        <m:dPr>
                          <m:begChr m:val="{"/>
                          <m:endChr m:val="}"/>
                          <m:ctrlPr>
                            <a:rPr lang="ar-AE" sz="2000" i="1">
                              <a:latin typeface="Cambria Math" panose="02040503050406030204" pitchFamily="18" charset="0"/>
                            </a:rPr>
                          </m:ctrlPr>
                        </m:dPr>
                        <m:e>
                          <m:r>
                            <a:rPr lang="ar-AE" sz="2000">
                              <a:latin typeface="Cambria Math" panose="02040503050406030204" pitchFamily="18" charset="0"/>
                            </a:rPr>
                            <m:t> ∥</m:t>
                          </m:r>
                          <m:sSup>
                            <m:sSupPr>
                              <m:ctrlPr>
                                <a:rPr lang="ar-AE" sz="2000" i="1">
                                  <a:latin typeface="Cambria Math" panose="02040503050406030204" pitchFamily="18" charset="0"/>
                                </a:rPr>
                              </m:ctrlPr>
                            </m:sSupPr>
                            <m:e>
                              <m:r>
                                <a:rPr lang="ar-AE" sz="2000">
                                  <a:latin typeface="Cambria Math" panose="02040503050406030204" pitchFamily="18" charset="0"/>
                                </a:rPr>
                                <m:t>𝑦</m:t>
                              </m:r>
                            </m:e>
                            <m:sup>
                              <m:d>
                                <m:dPr>
                                  <m:ctrlPr>
                                    <a:rPr lang="ar-AE" sz="2000" i="1">
                                      <a:latin typeface="Cambria Math" panose="02040503050406030204" pitchFamily="18" charset="0"/>
                                    </a:rPr>
                                  </m:ctrlPr>
                                </m:dPr>
                                <m:e>
                                  <m:r>
                                    <a:rPr lang="ar-AE" sz="2000">
                                      <a:latin typeface="Cambria Math" panose="02040503050406030204" pitchFamily="18" charset="0"/>
                                    </a:rPr>
                                    <m:t>𝑏</m:t>
                                  </m:r>
                                </m:e>
                              </m:d>
                            </m:sup>
                          </m:sSup>
                          <m:r>
                            <a:rPr lang="ar-AE" sz="2000">
                              <a:latin typeface="Cambria Math" panose="02040503050406030204" pitchFamily="18" charset="0"/>
                            </a:rPr>
                            <m:t>−</m:t>
                          </m:r>
                          <m:sSup>
                            <m:sSupPr>
                              <m:ctrlPr>
                                <a:rPr lang="ar-AE" sz="2000" i="1">
                                  <a:latin typeface="Cambria Math" panose="02040503050406030204" pitchFamily="18" charset="0"/>
                                </a:rPr>
                              </m:ctrlPr>
                            </m:sSupPr>
                            <m:e>
                              <m:r>
                                <a:rPr lang="ar-AE" sz="2000">
                                  <a:latin typeface="Cambria Math" panose="02040503050406030204" pitchFamily="18" charset="0"/>
                                </a:rPr>
                                <m:t>𝑋</m:t>
                              </m:r>
                            </m:e>
                            <m:sup>
                              <m:d>
                                <m:dPr>
                                  <m:ctrlPr>
                                    <a:rPr lang="ar-AE" sz="2000" i="1">
                                      <a:latin typeface="Cambria Math" panose="02040503050406030204" pitchFamily="18" charset="0"/>
                                    </a:rPr>
                                  </m:ctrlPr>
                                </m:dPr>
                                <m:e>
                                  <m:r>
                                    <a:rPr lang="ar-AE" sz="2000">
                                      <a:latin typeface="Cambria Math" panose="02040503050406030204" pitchFamily="18" charset="0"/>
                                    </a:rPr>
                                    <m:t>𝑏</m:t>
                                  </m:r>
                                </m:e>
                              </m:d>
                            </m:sup>
                          </m:sSup>
                          <m:r>
                            <a:rPr lang="ar-AE" sz="2000">
                              <a:latin typeface="Cambria Math" panose="02040503050406030204" pitchFamily="18" charset="0"/>
                            </a:rPr>
                            <m:t>𝛽</m:t>
                          </m:r>
                          <m:sSubSup>
                            <m:sSubSupPr>
                              <m:ctrlPr>
                                <a:rPr lang="ar-AE" sz="2000" i="1">
                                  <a:latin typeface="Cambria Math" panose="02040503050406030204" pitchFamily="18" charset="0"/>
                                </a:rPr>
                              </m:ctrlPr>
                            </m:sSubSupPr>
                            <m:e>
                              <m:r>
                                <a:rPr lang="ar-AE" sz="2000">
                                  <a:latin typeface="Cambria Math" panose="02040503050406030204" pitchFamily="18" charset="0"/>
                                </a:rPr>
                                <m:t>∥</m:t>
                              </m:r>
                            </m:e>
                            <m:sub>
                              <m:r>
                                <a:rPr lang="ar-AE" sz="2000">
                                  <a:latin typeface="Cambria Math" panose="02040503050406030204" pitchFamily="18" charset="0"/>
                                </a:rPr>
                                <m:t>2</m:t>
                              </m:r>
                            </m:sub>
                            <m:sup>
                              <m:r>
                                <a:rPr lang="ar-AE" sz="2000">
                                  <a:latin typeface="Cambria Math" panose="02040503050406030204" pitchFamily="18" charset="0"/>
                                </a:rPr>
                                <m:t>2</m:t>
                              </m:r>
                            </m:sup>
                          </m:sSubSup>
                          <m:r>
                            <a:rPr lang="ar-AE" sz="2000">
                              <a:latin typeface="Cambria Math" panose="02040503050406030204" pitchFamily="18" charset="0"/>
                            </a:rPr>
                            <m:t>+</m:t>
                          </m:r>
                          <m:r>
                            <a:rPr lang="ar-AE" sz="2000">
                              <a:latin typeface="Cambria Math" panose="02040503050406030204" pitchFamily="18" charset="0"/>
                            </a:rPr>
                            <m:t>𝜆</m:t>
                          </m:r>
                          <m:r>
                            <a:rPr lang="ar-AE" sz="2000">
                              <a:latin typeface="Cambria Math" panose="02040503050406030204" pitchFamily="18" charset="0"/>
                            </a:rPr>
                            <m:t>∥</m:t>
                          </m:r>
                          <m:r>
                            <a:rPr lang="ar-AE" sz="2000">
                              <a:latin typeface="Cambria Math" panose="02040503050406030204" pitchFamily="18" charset="0"/>
                            </a:rPr>
                            <m:t>𝛽</m:t>
                          </m:r>
                          <m:sSub>
                            <m:sSubPr>
                              <m:ctrlPr>
                                <a:rPr lang="ar-AE" sz="2000" i="1">
                                  <a:latin typeface="Cambria Math" panose="02040503050406030204" pitchFamily="18" charset="0"/>
                                </a:rPr>
                              </m:ctrlPr>
                            </m:sSubPr>
                            <m:e>
                              <m:r>
                                <a:rPr lang="ar-AE" sz="2000">
                                  <a:latin typeface="Cambria Math" panose="02040503050406030204" pitchFamily="18" charset="0"/>
                                </a:rPr>
                                <m:t>∥</m:t>
                              </m:r>
                            </m:e>
                            <m:sub>
                              <m:r>
                                <a:rPr lang="ar-AE" sz="2000">
                                  <a:latin typeface="Cambria Math" panose="02040503050406030204" pitchFamily="18" charset="0"/>
                                </a:rPr>
                                <m:t>1</m:t>
                              </m:r>
                            </m:sub>
                          </m:sSub>
                        </m:e>
                      </m:d>
                    </m:oMath>
                  </m:oMathPara>
                </a14:m>
                <a:endParaRPr lang="ar-AE" sz="2000" dirty="0"/>
              </a:p>
              <a:p>
                <a:pPr lvl="0"/>
                <a:r>
                  <a:rPr lang="en-US" sz="2000" dirty="0"/>
                  <a:t>Given the selection set </a:t>
                </a:r>
                <a14:m>
                  <m:oMath xmlns:m="http://schemas.openxmlformats.org/officeDocument/2006/math">
                    <m:sSup>
                      <m:sSupPr>
                        <m:ctrlPr>
                          <a:rPr lang="ar-AE" sz="2000" i="1">
                            <a:latin typeface="Cambria Math" panose="02040503050406030204" pitchFamily="18" charset="0"/>
                          </a:rPr>
                        </m:ctrlPr>
                      </m:sSupPr>
                      <m:e>
                        <m:r>
                          <a:rPr lang="ar-AE" sz="2000">
                            <a:latin typeface="Cambria Math" panose="02040503050406030204" pitchFamily="18" charset="0"/>
                          </a:rPr>
                          <m:t>𝑆</m:t>
                        </m:r>
                      </m:e>
                      <m:sup>
                        <m:r>
                          <a:rPr lang="ar-AE" sz="2000">
                            <a:latin typeface="Cambria Math" panose="02040503050406030204" pitchFamily="18" charset="0"/>
                          </a:rPr>
                          <m:t>𝜆</m:t>
                        </m:r>
                        <m:r>
                          <a:rPr lang="ar-AE" sz="2000">
                            <a:latin typeface="Cambria Math" panose="02040503050406030204" pitchFamily="18" charset="0"/>
                          </a:rPr>
                          <m:t>,</m:t>
                        </m:r>
                        <m:r>
                          <a:rPr lang="ar-AE" sz="2000">
                            <a:latin typeface="Cambria Math" panose="02040503050406030204" pitchFamily="18" charset="0"/>
                          </a:rPr>
                          <m:t>𝑏</m:t>
                        </m:r>
                      </m:sup>
                    </m:sSup>
                    <m:r>
                      <a:rPr lang="ar-AE" sz="2000">
                        <a:latin typeface="Cambria Math" panose="02040503050406030204" pitchFamily="18" charset="0"/>
                      </a:rPr>
                      <m:t>={</m:t>
                    </m:r>
                    <m:r>
                      <a:rPr lang="ar-AE" sz="2000">
                        <a:latin typeface="Cambria Math" panose="02040503050406030204" pitchFamily="18" charset="0"/>
                      </a:rPr>
                      <m:t>𝑘</m:t>
                    </m:r>
                    <m:r>
                      <a:rPr lang="ar-AE" sz="2000">
                        <a:latin typeface="Cambria Math" panose="02040503050406030204" pitchFamily="18" charset="0"/>
                      </a:rPr>
                      <m:t>:</m:t>
                    </m:r>
                    <m:sSubSup>
                      <m:sSubSupPr>
                        <m:ctrlPr>
                          <a:rPr lang="ar-AE" sz="2000" i="1">
                            <a:latin typeface="Cambria Math" panose="02040503050406030204" pitchFamily="18" charset="0"/>
                          </a:rPr>
                        </m:ctrlPr>
                      </m:sSubSupPr>
                      <m:e>
                        <m:acc>
                          <m:accPr>
                            <m:chr m:val="̂"/>
                            <m:ctrlPr>
                              <a:rPr lang="ar-AE" sz="2000" i="1">
                                <a:latin typeface="Cambria Math" panose="02040503050406030204" pitchFamily="18" charset="0"/>
                              </a:rPr>
                            </m:ctrlPr>
                          </m:accPr>
                          <m:e>
                            <m:r>
                              <a:rPr lang="ar-AE" sz="2000">
                                <a:latin typeface="Cambria Math" panose="02040503050406030204" pitchFamily="18" charset="0"/>
                              </a:rPr>
                              <m:t>𝛽</m:t>
                            </m:r>
                          </m:e>
                        </m:acc>
                      </m:e>
                      <m:sub>
                        <m:r>
                          <a:rPr lang="ar-AE" sz="2000">
                            <a:latin typeface="Cambria Math" panose="02040503050406030204" pitchFamily="18" charset="0"/>
                          </a:rPr>
                          <m:t>𝑘</m:t>
                        </m:r>
                      </m:sub>
                      <m:sup>
                        <m:d>
                          <m:dPr>
                            <m:ctrlPr>
                              <a:rPr lang="ar-AE" sz="2000" i="1">
                                <a:latin typeface="Cambria Math" panose="02040503050406030204" pitchFamily="18" charset="0"/>
                              </a:rPr>
                            </m:ctrlPr>
                          </m:dPr>
                          <m:e>
                            <m:r>
                              <a:rPr lang="ar-AE" sz="2000">
                                <a:latin typeface="Cambria Math" panose="02040503050406030204" pitchFamily="18" charset="0"/>
                              </a:rPr>
                              <m:t>𝑏</m:t>
                            </m:r>
                          </m:e>
                        </m:d>
                      </m:sup>
                    </m:sSubSup>
                    <m:r>
                      <a:rPr lang="ar-AE" sz="2000">
                        <a:latin typeface="Cambria Math" panose="02040503050406030204" pitchFamily="18" charset="0"/>
                      </a:rPr>
                      <m:t>≠0}</m:t>
                    </m:r>
                  </m:oMath>
                </a14:m>
                <a:r>
                  <a:rPr lang="en-US" sz="2000" dirty="0"/>
                  <a:t>, calculate the selection probability for each variable:</a:t>
                </a:r>
              </a:p>
              <a:p>
                <a:pPr marL="342900" lvl="1" indent="0">
                  <a:buNone/>
                </a:pPr>
                <a14:m>
                  <m:oMathPara xmlns:m="http://schemas.openxmlformats.org/officeDocument/2006/math">
                    <m:oMathParaPr>
                      <m:jc m:val="centerGroup"/>
                    </m:oMathParaPr>
                    <m:oMath xmlns:m="http://schemas.openxmlformats.org/officeDocument/2006/math">
                      <m:acc>
                        <m:accPr>
                          <m:chr m:val="̂"/>
                          <m:ctrlPr>
                            <a:rPr lang="ar-AE" sz="2000" i="1">
                              <a:latin typeface="Cambria Math" panose="02040503050406030204" pitchFamily="18" charset="0"/>
                            </a:rPr>
                          </m:ctrlPr>
                        </m:accPr>
                        <m:e>
                          <m:sSubSup>
                            <m:sSubSupPr>
                              <m:ctrlPr>
                                <a:rPr lang="ar-AE" sz="2000" i="1">
                                  <a:latin typeface="Cambria Math" panose="02040503050406030204" pitchFamily="18" charset="0"/>
                                </a:rPr>
                              </m:ctrlPr>
                            </m:sSubSupPr>
                            <m:e>
                              <m:r>
                                <a:rPr lang="ar-AE" sz="2000">
                                  <a:latin typeface="Cambria Math" panose="02040503050406030204" pitchFamily="18" charset="0"/>
                                </a:rPr>
                                <m:t>𝛱</m:t>
                              </m:r>
                            </m:e>
                            <m:sub>
                              <m:r>
                                <a:rPr lang="ar-AE" sz="2000">
                                  <a:latin typeface="Cambria Math" panose="02040503050406030204" pitchFamily="18" charset="0"/>
                                </a:rPr>
                                <m:t>𝑘</m:t>
                              </m:r>
                            </m:sub>
                            <m:sup>
                              <m:r>
                                <a:rPr lang="ar-AE" sz="2000">
                                  <a:latin typeface="Cambria Math" panose="02040503050406030204" pitchFamily="18" charset="0"/>
                                </a:rPr>
                                <m:t>𝜆</m:t>
                              </m:r>
                            </m:sup>
                          </m:sSubSup>
                        </m:e>
                      </m:acc>
                      <m:r>
                        <a:rPr lang="ar-AE" sz="2000">
                          <a:latin typeface="Cambria Math" panose="02040503050406030204" pitchFamily="18" charset="0"/>
                        </a:rPr>
                        <m:t>=</m:t>
                      </m:r>
                      <m:r>
                        <a:rPr lang="ar-AE" sz="2000">
                          <a:latin typeface="Cambria Math" panose="02040503050406030204" pitchFamily="18" charset="0"/>
                        </a:rPr>
                        <m:t>𝑃</m:t>
                      </m:r>
                      <m:d>
                        <m:dPr>
                          <m:ctrlPr>
                            <a:rPr lang="ar-AE" sz="2000" i="1">
                              <a:latin typeface="Cambria Math" panose="02040503050406030204" pitchFamily="18" charset="0"/>
                            </a:rPr>
                          </m:ctrlPr>
                        </m:dPr>
                        <m:e>
                          <m:r>
                            <a:rPr lang="ar-AE" sz="2000">
                              <a:latin typeface="Cambria Math" panose="02040503050406030204" pitchFamily="18" charset="0"/>
                            </a:rPr>
                            <m:t>𝐾</m:t>
                          </m:r>
                          <m:r>
                            <a:rPr lang="ar-AE" sz="2000">
                              <a:latin typeface="Cambria Math" panose="02040503050406030204" pitchFamily="18" charset="0"/>
                            </a:rPr>
                            <m:t>⊂</m:t>
                          </m:r>
                          <m:sSup>
                            <m:sSupPr>
                              <m:ctrlPr>
                                <a:rPr lang="ar-AE" sz="2000" i="1">
                                  <a:latin typeface="Cambria Math" panose="02040503050406030204" pitchFamily="18" charset="0"/>
                                </a:rPr>
                              </m:ctrlPr>
                            </m:sSupPr>
                            <m:e>
                              <m:r>
                                <a:rPr lang="ar-AE" sz="2000">
                                  <a:latin typeface="Cambria Math" panose="02040503050406030204" pitchFamily="18" charset="0"/>
                                </a:rPr>
                                <m:t>𝑆</m:t>
                              </m:r>
                            </m:e>
                            <m:sup>
                              <m:r>
                                <a:rPr lang="ar-AE" sz="2000">
                                  <a:latin typeface="Cambria Math" panose="02040503050406030204" pitchFamily="18" charset="0"/>
                                </a:rPr>
                                <m:t>𝜆</m:t>
                              </m:r>
                              <m:r>
                                <a:rPr lang="ar-AE" sz="2000">
                                  <a:latin typeface="Cambria Math" panose="02040503050406030204" pitchFamily="18" charset="0"/>
                                </a:rPr>
                                <m:t>,</m:t>
                              </m:r>
                              <m:r>
                                <a:rPr lang="ar-AE" sz="2000">
                                  <a:latin typeface="Cambria Math" panose="02040503050406030204" pitchFamily="18" charset="0"/>
                                </a:rPr>
                                <m:t>𝑏</m:t>
                              </m:r>
                            </m:sup>
                          </m:sSup>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1</m:t>
                          </m:r>
                        </m:num>
                        <m:den>
                          <m:r>
                            <a:rPr lang="ar-AE" sz="2000">
                              <a:latin typeface="Cambria Math" panose="02040503050406030204" pitchFamily="18" charset="0"/>
                            </a:rPr>
                            <m:t>𝐵</m:t>
                          </m:r>
                        </m:den>
                      </m:f>
                      <m:nary>
                        <m:naryPr>
                          <m:chr m:val="∑"/>
                          <m:limLoc m:val="undOvr"/>
                          <m:ctrlPr>
                            <a:rPr lang="ar-AE" sz="2000" i="1">
                              <a:latin typeface="Cambria Math" panose="02040503050406030204" pitchFamily="18" charset="0"/>
                            </a:rPr>
                          </m:ctrlPr>
                        </m:naryPr>
                        <m:sub>
                          <m:r>
                            <a:rPr lang="ar-AE" sz="2000">
                              <a:latin typeface="Cambria Math" panose="02040503050406030204" pitchFamily="18" charset="0"/>
                            </a:rPr>
                            <m:t>𝑏</m:t>
                          </m:r>
                          <m:r>
                            <a:rPr lang="ar-AE" sz="2000">
                              <a:latin typeface="Cambria Math" panose="02040503050406030204" pitchFamily="18" charset="0"/>
                            </a:rPr>
                            <m:t>=1</m:t>
                          </m:r>
                        </m:sub>
                        <m:sup>
                          <m:r>
                            <a:rPr lang="ar-AE" sz="2000">
                              <a:latin typeface="Cambria Math" panose="02040503050406030204" pitchFamily="18" charset="0"/>
                            </a:rPr>
                            <m:t>𝐵</m:t>
                          </m:r>
                        </m:sup>
                        <m:e>
                          <m:sSub>
                            <m:sSubPr>
                              <m:ctrlPr>
                                <a:rPr lang="ar-AE" sz="2000" i="1">
                                  <a:latin typeface="Cambria Math" panose="02040503050406030204" pitchFamily="18" charset="0"/>
                                </a:rPr>
                              </m:ctrlPr>
                            </m:sSubPr>
                            <m:e>
                              <m:r>
                                <a:rPr lang="ar-AE" sz="2000">
                                  <a:latin typeface="Cambria Math" panose="02040503050406030204" pitchFamily="18" charset="0"/>
                                </a:rPr>
                                <m:t>𝐈</m:t>
                              </m:r>
                            </m:e>
                            <m:sub>
                              <m:r>
                                <a:rPr lang="ar-AE" sz="2000">
                                  <a:latin typeface="Cambria Math" panose="02040503050406030204" pitchFamily="18" charset="0"/>
                                </a:rPr>
                                <m:t>{</m:t>
                              </m:r>
                              <m:r>
                                <a:rPr lang="ar-AE" sz="2000">
                                  <a:latin typeface="Cambria Math" panose="02040503050406030204" pitchFamily="18" charset="0"/>
                                </a:rPr>
                                <m:t>𝑘</m:t>
                              </m:r>
                              <m:r>
                                <a:rPr lang="ar-AE" sz="2000">
                                  <a:latin typeface="Cambria Math" panose="02040503050406030204" pitchFamily="18" charset="0"/>
                                </a:rPr>
                                <m:t>∈</m:t>
                              </m:r>
                              <m:sSup>
                                <m:sSupPr>
                                  <m:ctrlPr>
                                    <a:rPr lang="ar-AE" sz="2000" i="1">
                                      <a:latin typeface="Cambria Math" panose="02040503050406030204" pitchFamily="18" charset="0"/>
                                    </a:rPr>
                                  </m:ctrlPr>
                                </m:sSupPr>
                                <m:e>
                                  <m:acc>
                                    <m:accPr>
                                      <m:chr m:val="̂"/>
                                      <m:ctrlPr>
                                        <a:rPr lang="ar-AE" sz="2000" i="1">
                                          <a:latin typeface="Cambria Math" panose="02040503050406030204" pitchFamily="18" charset="0"/>
                                        </a:rPr>
                                      </m:ctrlPr>
                                    </m:accPr>
                                    <m:e>
                                      <m:r>
                                        <a:rPr lang="ar-AE" sz="2000">
                                          <a:latin typeface="Cambria Math" panose="02040503050406030204" pitchFamily="18" charset="0"/>
                                        </a:rPr>
                                        <m:t>𝑆</m:t>
                                      </m:r>
                                    </m:e>
                                  </m:acc>
                                </m:e>
                                <m:sup>
                                  <m:r>
                                    <a:rPr lang="ar-AE" sz="2000">
                                      <a:latin typeface="Cambria Math" panose="02040503050406030204" pitchFamily="18" charset="0"/>
                                    </a:rPr>
                                    <m:t>𝜆</m:t>
                                  </m:r>
                                  <m:r>
                                    <a:rPr lang="ar-AE" sz="2000">
                                      <a:latin typeface="Cambria Math" panose="02040503050406030204" pitchFamily="18" charset="0"/>
                                    </a:rPr>
                                    <m:t>,</m:t>
                                  </m:r>
                                  <m:r>
                                    <a:rPr lang="ar-AE" sz="2000">
                                      <a:latin typeface="Cambria Math" panose="02040503050406030204" pitchFamily="18" charset="0"/>
                                    </a:rPr>
                                    <m:t>𝑏</m:t>
                                  </m:r>
                                </m:sup>
                              </m:sSup>
                              <m:r>
                                <a:rPr lang="ar-AE" sz="2000">
                                  <a:latin typeface="Cambria Math" panose="02040503050406030204" pitchFamily="18" charset="0"/>
                                </a:rPr>
                                <m:t>}</m:t>
                              </m:r>
                            </m:sub>
                          </m:sSub>
                        </m:e>
                      </m:nary>
                    </m:oMath>
                  </m:oMathPara>
                </a14:m>
                <a:endParaRPr lang="ar-AE" sz="2000" dirty="0"/>
              </a:p>
              <a:p>
                <a:pPr lvl="0"/>
                <a:r>
                  <a:rPr lang="en-US" sz="2000" dirty="0"/>
                  <a:t>The selection probability for predictor </a:t>
                </a:r>
                <a14:m>
                  <m:oMath xmlns:m="http://schemas.openxmlformats.org/officeDocument/2006/math">
                    <m:r>
                      <a:rPr lang="en-US" sz="2000">
                        <a:latin typeface="Cambria Math" panose="02040503050406030204" pitchFamily="18" charset="0"/>
                      </a:rPr>
                      <m:t>𝑘</m:t>
                    </m:r>
                  </m:oMath>
                </a14:m>
                <a:r>
                  <a:rPr lang="en-US" sz="2000" dirty="0"/>
                  <a:t> is its probability of having nonzero coefficients under regularization level </a:t>
                </a:r>
                <a14:m>
                  <m:oMath xmlns:m="http://schemas.openxmlformats.org/officeDocument/2006/math">
                    <m:r>
                      <a:rPr lang="en-US" sz="2000">
                        <a:latin typeface="Cambria Math" panose="02040503050406030204" pitchFamily="18" charset="0"/>
                      </a:rPr>
                      <m:t>𝜆</m:t>
                    </m:r>
                  </m:oMath>
                </a14:m>
                <a:r>
                  <a:rPr lang="en-US" sz="2000" dirty="0"/>
                  <a:t> over </a:t>
                </a:r>
                <a14:m>
                  <m:oMath xmlns:m="http://schemas.openxmlformats.org/officeDocument/2006/math">
                    <m:r>
                      <a:rPr lang="en-US" sz="2000">
                        <a:latin typeface="Cambria Math" panose="02040503050406030204" pitchFamily="18" charset="0"/>
                      </a:rPr>
                      <m:t>𝐵</m:t>
                    </m:r>
                  </m:oMath>
                </a14:m>
                <a:r>
                  <a:rPr lang="en-US" sz="2000" dirty="0"/>
                  <a:t> samples.</a:t>
                </a:r>
              </a:p>
            </p:txBody>
          </p:sp>
        </mc:Choice>
        <mc:Fallback xmlns="">
          <p:sp>
            <p:nvSpPr>
              <p:cNvPr id="3" name="Content Placeholder 2">
                <a:extLst>
                  <a:ext uri="{FF2B5EF4-FFF2-40B4-BE49-F238E27FC236}">
                    <a16:creationId xmlns:a16="http://schemas.microsoft.com/office/drawing/2014/main" id="{0F8E4895-C8AF-BBB3-2A1D-00AE6BC3AED6}"/>
                  </a:ext>
                </a:extLst>
              </p:cNvPr>
              <p:cNvSpPr>
                <a:spLocks noGrp="1" noRot="1" noChangeAspect="1" noMove="1" noResize="1" noEditPoints="1" noAdjustHandles="1" noChangeArrowheads="1" noChangeShapeType="1" noTextEdit="1"/>
              </p:cNvSpPr>
              <p:nvPr>
                <p:ph idx="1"/>
              </p:nvPr>
            </p:nvSpPr>
            <p:spPr>
              <a:xfrm>
                <a:off x="457200" y="962407"/>
                <a:ext cx="8229600" cy="3394472"/>
              </a:xfrm>
              <a:blipFill>
                <a:blip r:embed="rId3"/>
                <a:stretch>
                  <a:fillRect l="-772" t="-1115" r="-1543" b="-34944"/>
                </a:stretch>
              </a:blipFill>
            </p:spPr>
            <p:txBody>
              <a:bodyPr/>
              <a:lstStyle/>
              <a:p>
                <a:r>
                  <a:rPr lang="en-CN">
                    <a:noFill/>
                  </a:rPr>
                  <a:t> </a:t>
                </a:r>
              </a:p>
            </p:txBody>
          </p:sp>
        </mc:Fallback>
      </mc:AlternateContent>
    </p:spTree>
    <p:extLst>
      <p:ext uri="{BB962C8B-B14F-4D97-AF65-F5344CB8AC3E}">
        <p14:creationId xmlns:p14="http://schemas.microsoft.com/office/powerpoint/2010/main" val="4095171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1"/>
            <a:ext cx="8229600" cy="857250"/>
          </a:xfrm>
        </p:spPr>
        <p:txBody>
          <a:bodyPr/>
          <a:lstStyle/>
          <a:p>
            <a:pPr marL="0" lvl="0" indent="0" algn="l">
              <a:buNone/>
            </a:pPr>
            <a:r>
              <a:rPr dirty="0"/>
              <a:t>Procedure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74514"/>
                <a:ext cx="8229600" cy="3394472"/>
              </a:xfrm>
            </p:spPr>
            <p:txBody>
              <a:bodyPr>
                <a:noAutofit/>
              </a:bodyPr>
              <a:lstStyle/>
              <a:p>
                <a:pPr marL="342900" lvl="0" indent="-342900">
                  <a:buAutoNum type="arabicPeriod" startAt="5"/>
                </a:pPr>
                <a:r>
                  <a:rPr lang="en-US" sz="1800" dirty="0"/>
                  <a:t>Given a predefined threshold </a:t>
                </a:r>
                <a14:m>
                  <m:oMath xmlns:m="http://schemas.openxmlformats.org/officeDocument/2006/math">
                    <m:sSub>
                      <m:sSubPr>
                        <m:ctrlPr>
                          <a:rPr lang="ar-AE" sz="1800" i="1">
                            <a:latin typeface="Cambria Math" panose="02040503050406030204" pitchFamily="18" charset="0"/>
                          </a:rPr>
                        </m:ctrlPr>
                      </m:sSubPr>
                      <m:e>
                        <m:r>
                          <a:rPr lang="ar-AE" sz="1800">
                            <a:latin typeface="Cambria Math" panose="02040503050406030204" pitchFamily="18" charset="0"/>
                          </a:rPr>
                          <m:t>𝜋</m:t>
                        </m:r>
                      </m:e>
                      <m:sub>
                        <m:r>
                          <a:rPr lang="ar-AE" sz="1800">
                            <a:latin typeface="Cambria Math" panose="02040503050406030204" pitchFamily="18" charset="0"/>
                          </a:rPr>
                          <m:t>𝑡h𝑟</m:t>
                        </m:r>
                      </m:sub>
                    </m:sSub>
                    <m:r>
                      <a:rPr lang="ar-AE" sz="1800">
                        <a:latin typeface="Cambria Math" panose="02040503050406030204" pitchFamily="18" charset="0"/>
                      </a:rPr>
                      <m:t>∈ </m:t>
                    </m:r>
                    <m:d>
                      <m:dPr>
                        <m:ctrlPr>
                          <a:rPr lang="ar-AE" sz="1800" i="1">
                            <a:latin typeface="Cambria Math" panose="02040503050406030204" pitchFamily="18" charset="0"/>
                          </a:rPr>
                        </m:ctrlPr>
                      </m:dPr>
                      <m:e>
                        <m:r>
                          <a:rPr lang="ar-AE" sz="1800">
                            <a:latin typeface="Cambria Math" panose="02040503050406030204" pitchFamily="18" charset="0"/>
                          </a:rPr>
                          <m:t>0,1</m:t>
                        </m:r>
                      </m:e>
                    </m:d>
                  </m:oMath>
                </a14:m>
                <a:r>
                  <a:rPr lang="ar-AE" sz="1800" dirty="0"/>
                  <a:t> </a:t>
                </a:r>
                <a:r>
                  <a:rPr lang="en-US" sz="1800" dirty="0"/>
                  <a:t>and the selection probabilities </a:t>
                </a:r>
                <a14:m>
                  <m:oMath xmlns:m="http://schemas.openxmlformats.org/officeDocument/2006/math">
                    <m:acc>
                      <m:accPr>
                        <m:chr m:val="̂"/>
                        <m:ctrlPr>
                          <a:rPr lang="ar-AE" sz="1800" i="1">
                            <a:latin typeface="Cambria Math" panose="02040503050406030204" pitchFamily="18" charset="0"/>
                          </a:rPr>
                        </m:ctrlPr>
                      </m:accPr>
                      <m:e>
                        <m:sSubSup>
                          <m:sSubSupPr>
                            <m:ctrlPr>
                              <a:rPr lang="ar-AE" sz="1800" i="1">
                                <a:latin typeface="Cambria Math" panose="02040503050406030204" pitchFamily="18" charset="0"/>
                              </a:rPr>
                            </m:ctrlPr>
                          </m:sSubSupPr>
                          <m:e>
                            <m:r>
                              <a:rPr lang="ar-AE" sz="1800">
                                <a:latin typeface="Cambria Math" panose="02040503050406030204" pitchFamily="18" charset="0"/>
                              </a:rPr>
                              <m:t>𝛱</m:t>
                            </m:r>
                          </m:e>
                          <m:sub>
                            <m:r>
                              <a:rPr lang="ar-AE" sz="1800">
                                <a:latin typeface="Cambria Math" panose="02040503050406030204" pitchFamily="18" charset="0"/>
                              </a:rPr>
                              <m:t>𝑘</m:t>
                            </m:r>
                          </m:sub>
                          <m:sup>
                            <m:r>
                              <a:rPr lang="ar-AE" sz="1800">
                                <a:latin typeface="Cambria Math" panose="02040503050406030204" pitchFamily="18" charset="0"/>
                              </a:rPr>
                              <m:t>𝜆</m:t>
                            </m:r>
                          </m:sup>
                        </m:sSubSup>
                      </m:e>
                    </m:acc>
                    <m:r>
                      <a:rPr lang="ar-AE" sz="1800">
                        <a:latin typeface="Cambria Math" panose="02040503050406030204" pitchFamily="18" charset="0"/>
                      </a:rPr>
                      <m:t>,</m:t>
                    </m:r>
                  </m:oMath>
                </a14:m>
                <a:r>
                  <a:rPr lang="en-US" sz="1800" dirty="0"/>
                  <a:t> the stable set is constructed as:</a:t>
                </a:r>
                <a:endParaRPr lang="ar-AE" sz="1800" dirty="0"/>
              </a:p>
              <a:p>
                <a:pPr marL="0" lvl="0" indent="0">
                  <a:buNone/>
                </a:pPr>
                <a14:m>
                  <m:oMathPara xmlns:m="http://schemas.openxmlformats.org/officeDocument/2006/math">
                    <m:oMathParaPr>
                      <m:jc m:val="center"/>
                    </m:oMathParaPr>
                    <m:oMath xmlns:m="http://schemas.openxmlformats.org/officeDocument/2006/math">
                      <m:acc>
                        <m:accPr>
                          <m:chr m:val="̂"/>
                          <m:ctrlPr>
                            <a:rPr lang="ar-AE" sz="1800" i="1">
                              <a:latin typeface="Cambria Math" panose="02040503050406030204" pitchFamily="18" charset="0"/>
                            </a:rPr>
                          </m:ctrlPr>
                        </m:accPr>
                        <m:e>
                          <m:sSub>
                            <m:sSubPr>
                              <m:ctrlPr>
                                <a:rPr lang="ar-AE" sz="1800" i="1">
                                  <a:latin typeface="Cambria Math" panose="02040503050406030204" pitchFamily="18" charset="0"/>
                                </a:rPr>
                              </m:ctrlPr>
                            </m:sSubPr>
                            <m:e>
                              <m:r>
                                <a:rPr lang="ar-AE" sz="1800">
                                  <a:latin typeface="Cambria Math" panose="02040503050406030204" pitchFamily="18" charset="0"/>
                                </a:rPr>
                                <m:t>𝑆</m:t>
                              </m:r>
                            </m:e>
                            <m:sub>
                              <m:r>
                                <a:rPr lang="ar-AE" sz="1800">
                                  <a:latin typeface="Cambria Math" panose="02040503050406030204" pitchFamily="18" charset="0"/>
                                </a:rPr>
                                <m:t>𝑠𝑡𝑎𝑏𝑙𝑒</m:t>
                              </m:r>
                            </m:sub>
                          </m:sSub>
                        </m:e>
                      </m:acc>
                      <m:r>
                        <a:rPr lang="ar-AE" sz="1800">
                          <a:latin typeface="Cambria Math" panose="02040503050406030204" pitchFamily="18" charset="0"/>
                        </a:rPr>
                        <m:t>={</m:t>
                      </m:r>
                      <m:r>
                        <a:rPr lang="ar-AE" sz="1800">
                          <a:latin typeface="Cambria Math" panose="02040503050406030204" pitchFamily="18" charset="0"/>
                        </a:rPr>
                        <m:t>𝑘</m:t>
                      </m:r>
                      <m:r>
                        <a:rPr lang="ar-AE" sz="1800">
                          <a:latin typeface="Cambria Math" panose="02040503050406030204" pitchFamily="18" charset="0"/>
                        </a:rPr>
                        <m:t>:</m:t>
                      </m:r>
                      <m:r>
                        <a:rPr lang="ar-AE" sz="1800">
                          <a:latin typeface="Cambria Math" panose="02040503050406030204" pitchFamily="18" charset="0"/>
                        </a:rPr>
                        <m:t>𝑚𝑎</m:t>
                      </m:r>
                      <m:sSub>
                        <m:sSubPr>
                          <m:ctrlPr>
                            <a:rPr lang="ar-AE" sz="1800" i="1">
                              <a:latin typeface="Cambria Math" panose="02040503050406030204" pitchFamily="18" charset="0"/>
                            </a:rPr>
                          </m:ctrlPr>
                        </m:sSubPr>
                        <m:e>
                          <m:r>
                            <a:rPr lang="ar-AE" sz="1800">
                              <a:latin typeface="Cambria Math" panose="02040503050406030204" pitchFamily="18" charset="0"/>
                            </a:rPr>
                            <m:t>𝑥</m:t>
                          </m:r>
                        </m:e>
                        <m:sub>
                          <m:r>
                            <a:rPr lang="ar-AE" sz="1800">
                              <a:latin typeface="Cambria Math" panose="02040503050406030204" pitchFamily="18" charset="0"/>
                            </a:rPr>
                            <m:t>𝜆</m:t>
                          </m:r>
                          <m:r>
                            <a:rPr lang="ar-AE" sz="1800">
                              <a:latin typeface="Cambria Math" panose="02040503050406030204" pitchFamily="18" charset="0"/>
                            </a:rPr>
                            <m:t>∈</m:t>
                          </m:r>
                          <m:r>
                            <a:rPr lang="ar-AE" sz="1800">
                              <a:latin typeface="Cambria Math" panose="02040503050406030204" pitchFamily="18" charset="0"/>
                            </a:rPr>
                            <m:t>𝛬</m:t>
                          </m:r>
                        </m:sub>
                      </m:sSub>
                      <m:acc>
                        <m:accPr>
                          <m:chr m:val="̂"/>
                          <m:ctrlPr>
                            <a:rPr lang="ar-AE" sz="1800" i="1">
                              <a:latin typeface="Cambria Math" panose="02040503050406030204" pitchFamily="18" charset="0"/>
                            </a:rPr>
                          </m:ctrlPr>
                        </m:accPr>
                        <m:e>
                          <m:sSubSup>
                            <m:sSubSupPr>
                              <m:ctrlPr>
                                <a:rPr lang="ar-AE" sz="1800" i="1">
                                  <a:latin typeface="Cambria Math" panose="02040503050406030204" pitchFamily="18" charset="0"/>
                                </a:rPr>
                              </m:ctrlPr>
                            </m:sSubSupPr>
                            <m:e>
                              <m:r>
                                <a:rPr lang="ar-AE" sz="1800">
                                  <a:latin typeface="Cambria Math" panose="02040503050406030204" pitchFamily="18" charset="0"/>
                                </a:rPr>
                                <m:t>𝛱</m:t>
                              </m:r>
                            </m:e>
                            <m:sub>
                              <m:r>
                                <a:rPr lang="ar-AE" sz="1800">
                                  <a:latin typeface="Cambria Math" panose="02040503050406030204" pitchFamily="18" charset="0"/>
                                </a:rPr>
                                <m:t>𝑘</m:t>
                              </m:r>
                            </m:sub>
                            <m:sup>
                              <m:r>
                                <a:rPr lang="ar-AE" sz="1800">
                                  <a:latin typeface="Cambria Math" panose="02040503050406030204" pitchFamily="18" charset="0"/>
                                </a:rPr>
                                <m:t>𝜆</m:t>
                              </m:r>
                            </m:sup>
                          </m:sSubSup>
                        </m:e>
                      </m:acc>
                      <m:r>
                        <a:rPr lang="ar-AE" sz="1800">
                          <a:latin typeface="Cambria Math" panose="02040503050406030204" pitchFamily="18" charset="0"/>
                        </a:rPr>
                        <m:t>≥</m:t>
                      </m:r>
                      <m:sSub>
                        <m:sSubPr>
                          <m:ctrlPr>
                            <a:rPr lang="ar-AE" sz="1800" i="1">
                              <a:latin typeface="Cambria Math" panose="02040503050406030204" pitchFamily="18" charset="0"/>
                            </a:rPr>
                          </m:ctrlPr>
                        </m:sSubPr>
                        <m:e>
                          <m:r>
                            <a:rPr lang="ar-AE" sz="1800">
                              <a:latin typeface="Cambria Math" panose="02040503050406030204" pitchFamily="18" charset="0"/>
                            </a:rPr>
                            <m:t>𝜋</m:t>
                          </m:r>
                        </m:e>
                        <m:sub>
                          <m:r>
                            <a:rPr lang="ar-AE" sz="1800">
                              <a:latin typeface="Cambria Math" panose="02040503050406030204" pitchFamily="18" charset="0"/>
                            </a:rPr>
                            <m:t>𝑡h𝑟</m:t>
                          </m:r>
                        </m:sub>
                      </m:sSub>
                      <m:r>
                        <a:rPr lang="ar-AE" sz="1800">
                          <a:latin typeface="Cambria Math" panose="02040503050406030204" pitchFamily="18" charset="0"/>
                        </a:rPr>
                        <m:t>}</m:t>
                      </m:r>
                    </m:oMath>
                  </m:oMathPara>
                </a14:m>
                <a:endParaRPr lang="ar-AE" sz="1800" dirty="0"/>
              </a:p>
              <a:p>
                <a:pPr marL="0" lvl="0" indent="0">
                  <a:buNone/>
                </a:pPr>
                <a:r>
                  <a:rPr lang="en-US" sz="1800" dirty="0"/>
                  <a:t>	These are predictors that are selected frequently across subsamples and across</a:t>
                </a:r>
              </a:p>
              <a:p>
                <a:pPr marL="0" lvl="0" indent="0">
                  <a:buNone/>
                </a:pPr>
                <a:r>
                  <a:rPr lang="en-US" sz="1800" dirty="0"/>
                  <a:t>	different regularization strengths.</a:t>
                </a:r>
              </a:p>
              <a:p>
                <a:pPr marL="0" lvl="0" indent="0">
                  <a:buNone/>
                </a:pPr>
                <a:r>
                  <a:rPr lang="en-US" sz="1800" dirty="0"/>
                  <a:t>6.   (Optional) Randomized Lasso Weighting step</a:t>
                </a:r>
              </a:p>
              <a:p>
                <a:pPr marL="342900" lvl="1" indent="0">
                  <a:buNone/>
                </a:pPr>
                <a:r>
                  <a:rPr lang="en-US" sz="1800" dirty="0"/>
                  <a:t>Each subsample uses randomized penalty wights</a:t>
                </a:r>
              </a:p>
              <a:p>
                <a:pPr marL="342900" lvl="1" indent="0">
                  <a:buNone/>
                </a:pPr>
                <a14:m>
                  <m:oMathPara xmlns:m="http://schemas.openxmlformats.org/officeDocument/2006/math">
                    <m:oMathParaPr>
                      <m:jc m:val="center"/>
                    </m:oMathParaPr>
                    <m:oMath xmlns:m="http://schemas.openxmlformats.org/officeDocument/2006/math">
                      <m:sSubSup>
                        <m:sSubSupPr>
                          <m:ctrlPr>
                            <a:rPr lang="ar-AE" sz="1800" i="1">
                              <a:latin typeface="Cambria Math" panose="02040503050406030204" pitchFamily="18" charset="0"/>
                            </a:rPr>
                          </m:ctrlPr>
                        </m:sSubSupPr>
                        <m:e>
                          <m:r>
                            <a:rPr lang="ar-AE" sz="1800">
                              <a:latin typeface="Cambria Math" panose="02040503050406030204" pitchFamily="18" charset="0"/>
                            </a:rPr>
                            <m:t>𝑤</m:t>
                          </m:r>
                        </m:e>
                        <m:sub>
                          <m:r>
                            <a:rPr lang="ar-AE" sz="1800">
                              <a:latin typeface="Cambria Math" panose="02040503050406030204" pitchFamily="18" charset="0"/>
                            </a:rPr>
                            <m:t>𝑗</m:t>
                          </m:r>
                        </m:sub>
                        <m:sup>
                          <m:d>
                            <m:dPr>
                              <m:ctrlPr>
                                <a:rPr lang="ar-AE" sz="1800" i="1">
                                  <a:latin typeface="Cambria Math" panose="02040503050406030204" pitchFamily="18" charset="0"/>
                                </a:rPr>
                              </m:ctrlPr>
                            </m:dPr>
                            <m:e>
                              <m:r>
                                <a:rPr lang="ar-AE" sz="1800">
                                  <a:latin typeface="Cambria Math" panose="02040503050406030204" pitchFamily="18" charset="0"/>
                                </a:rPr>
                                <m:t>𝑏</m:t>
                              </m:r>
                            </m:e>
                          </m:d>
                        </m:sup>
                      </m:sSubSup>
                      <m:r>
                        <a:rPr lang="ar-AE" sz="1800">
                          <a:latin typeface="Cambria Math" panose="02040503050406030204" pitchFamily="18" charset="0"/>
                        </a:rPr>
                        <m:t>∼</m:t>
                      </m:r>
                      <m:r>
                        <a:rPr lang="ar-AE" sz="1800">
                          <a:latin typeface="Cambria Math" panose="02040503050406030204" pitchFamily="18" charset="0"/>
                        </a:rPr>
                        <m:t>𝑈</m:t>
                      </m:r>
                      <m:d>
                        <m:dPr>
                          <m:ctrlPr>
                            <a:rPr lang="ar-AE" sz="1800" i="1">
                              <a:latin typeface="Cambria Math" panose="02040503050406030204" pitchFamily="18" charset="0"/>
                            </a:rPr>
                          </m:ctrlPr>
                        </m:dPr>
                        <m:e>
                          <m:r>
                            <a:rPr lang="ar-AE" sz="1800">
                              <a:latin typeface="Cambria Math" panose="02040503050406030204" pitchFamily="18" charset="0"/>
                            </a:rPr>
                            <m:t>𝛼</m:t>
                          </m:r>
                          <m:r>
                            <a:rPr lang="ar-AE" sz="1800">
                              <a:latin typeface="Cambria Math" panose="02040503050406030204" pitchFamily="18" charset="0"/>
                            </a:rPr>
                            <m:t>,1</m:t>
                          </m:r>
                        </m:e>
                      </m:d>
                      <m:r>
                        <a:rPr lang="ar-AE" sz="1800">
                          <a:latin typeface="Cambria Math" panose="02040503050406030204" pitchFamily="18" charset="0"/>
                        </a:rPr>
                        <m:t>,</m:t>
                      </m:r>
                    </m:oMath>
                  </m:oMathPara>
                </a14:m>
                <a:endParaRPr lang="ar-AE" sz="1800" dirty="0"/>
              </a:p>
              <a:p>
                <a:pPr marL="342900" lvl="1" indent="0">
                  <a:buNone/>
                </a:pPr>
                <a:r>
                  <a:rPr lang="en-US" sz="1800" dirty="0"/>
                  <a:t>where </a:t>
                </a:r>
                <a14:m>
                  <m:oMath xmlns:m="http://schemas.openxmlformats.org/officeDocument/2006/math">
                    <m:r>
                      <a:rPr lang="en-US" sz="1800">
                        <a:latin typeface="Cambria Math" panose="02040503050406030204" pitchFamily="18" charset="0"/>
                      </a:rPr>
                      <m:t>𝛼</m:t>
                    </m:r>
                    <m:r>
                      <a:rPr lang="en-US" sz="1800">
                        <a:latin typeface="Cambria Math" panose="02040503050406030204" pitchFamily="18" charset="0"/>
                      </a:rPr>
                      <m:t>∈(0,1]</m:t>
                    </m:r>
                  </m:oMath>
                </a14:m>
                <a:r>
                  <a:rPr lang="en-US" sz="1800" dirty="0"/>
                  <a:t> is the predefined weakness level. </a:t>
                </a:r>
              </a:p>
              <a:p>
                <a:pPr marL="342900" lvl="1" indent="0">
                  <a:buNone/>
                </a:pPr>
                <a:r>
                  <a:rPr lang="en-US" sz="1800" dirty="0"/>
                  <a:t>The randomized lasso estimator becomes:</a:t>
                </a:r>
              </a:p>
              <a:p>
                <a:pPr marL="342900" lvl="1" indent="0">
                  <a:buNone/>
                </a:pPr>
                <a14:m>
                  <m:oMathPara xmlns:m="http://schemas.openxmlformats.org/officeDocument/2006/math">
                    <m:oMathParaPr>
                      <m:jc m:val="center"/>
                    </m:oMathParaPr>
                    <m:oMath xmlns:m="http://schemas.openxmlformats.org/officeDocument/2006/math">
                      <m:acc>
                        <m:accPr>
                          <m:chr m:val="̂"/>
                          <m:ctrlPr>
                            <a:rPr lang="ar-AE" sz="1800" i="1">
                              <a:latin typeface="Cambria Math" panose="02040503050406030204" pitchFamily="18" charset="0"/>
                            </a:rPr>
                          </m:ctrlPr>
                        </m:accPr>
                        <m:e>
                          <m:sSup>
                            <m:sSupPr>
                              <m:ctrlPr>
                                <a:rPr lang="ar-AE" sz="1800" i="1">
                                  <a:latin typeface="Cambria Math" panose="02040503050406030204" pitchFamily="18" charset="0"/>
                                </a:rPr>
                              </m:ctrlPr>
                            </m:sSupPr>
                            <m:e>
                              <m:r>
                                <a:rPr lang="ar-AE" sz="1800">
                                  <a:latin typeface="Cambria Math" panose="02040503050406030204" pitchFamily="18" charset="0"/>
                                </a:rPr>
                                <m:t>𝛽</m:t>
                              </m:r>
                            </m:e>
                            <m:sup>
                              <m:d>
                                <m:dPr>
                                  <m:ctrlPr>
                                    <a:rPr lang="ar-AE" sz="1800" i="1">
                                      <a:latin typeface="Cambria Math" panose="02040503050406030204" pitchFamily="18" charset="0"/>
                                    </a:rPr>
                                  </m:ctrlPr>
                                </m:dPr>
                                <m:e>
                                  <m:r>
                                    <a:rPr lang="ar-AE" sz="1800">
                                      <a:latin typeface="Cambria Math" panose="02040503050406030204" pitchFamily="18" charset="0"/>
                                    </a:rPr>
                                    <m:t>𝑏</m:t>
                                  </m:r>
                                </m:e>
                              </m:d>
                            </m:sup>
                          </m:sSup>
                        </m:e>
                      </m:acc>
                      <m:r>
                        <a:rPr lang="ar-AE" sz="1800">
                          <a:latin typeface="Cambria Math" panose="02040503050406030204" pitchFamily="18" charset="0"/>
                        </a:rPr>
                        <m:t>=</m:t>
                      </m:r>
                      <m:limLow>
                        <m:limLowPr>
                          <m:ctrlPr>
                            <a:rPr lang="ar-AE" sz="1800" i="1">
                              <a:latin typeface="Cambria Math" panose="02040503050406030204" pitchFamily="18" charset="0"/>
                            </a:rPr>
                          </m:ctrlPr>
                        </m:limLowPr>
                        <m:e>
                          <m:r>
                            <m:rPr>
                              <m:sty m:val="p"/>
                            </m:rPr>
                            <a:rPr lang="en-US" sz="1800">
                              <a:latin typeface="Cambria Math" panose="02040503050406030204" pitchFamily="18" charset="0"/>
                            </a:rPr>
                            <m:t>min</m:t>
                          </m:r>
                        </m:e>
                        <m:lim>
                          <m:r>
                            <a:rPr lang="ar-AE" sz="1800">
                              <a:latin typeface="Cambria Math" panose="02040503050406030204" pitchFamily="18" charset="0"/>
                            </a:rPr>
                            <m:t>𝛽</m:t>
                          </m:r>
                        </m:lim>
                      </m:limLow>
                      <m:d>
                        <m:dPr>
                          <m:begChr m:val="{"/>
                          <m:endChr m:val="}"/>
                          <m:ctrlPr>
                            <a:rPr lang="ar-AE" sz="1800" i="1">
                              <a:latin typeface="Cambria Math" panose="02040503050406030204" pitchFamily="18" charset="0"/>
                            </a:rPr>
                          </m:ctrlPr>
                        </m:dPr>
                        <m:e>
                          <m:r>
                            <a:rPr lang="ar-AE" sz="1800">
                              <a:latin typeface="Cambria Math" panose="02040503050406030204" pitchFamily="18" charset="0"/>
                            </a:rPr>
                            <m:t> ∥</m:t>
                          </m:r>
                          <m:sSup>
                            <m:sSupPr>
                              <m:ctrlPr>
                                <a:rPr lang="ar-AE" sz="1800" i="1">
                                  <a:latin typeface="Cambria Math" panose="02040503050406030204" pitchFamily="18" charset="0"/>
                                </a:rPr>
                              </m:ctrlPr>
                            </m:sSupPr>
                            <m:e>
                              <m:r>
                                <a:rPr lang="ar-AE" sz="1800">
                                  <a:latin typeface="Cambria Math" panose="02040503050406030204" pitchFamily="18" charset="0"/>
                                </a:rPr>
                                <m:t>𝑦</m:t>
                              </m:r>
                            </m:e>
                            <m:sup>
                              <m:d>
                                <m:dPr>
                                  <m:ctrlPr>
                                    <a:rPr lang="ar-AE" sz="1800" i="1">
                                      <a:latin typeface="Cambria Math" panose="02040503050406030204" pitchFamily="18" charset="0"/>
                                    </a:rPr>
                                  </m:ctrlPr>
                                </m:dPr>
                                <m:e>
                                  <m:r>
                                    <a:rPr lang="ar-AE" sz="1800">
                                      <a:latin typeface="Cambria Math" panose="02040503050406030204" pitchFamily="18" charset="0"/>
                                    </a:rPr>
                                    <m:t>𝑏</m:t>
                                  </m:r>
                                </m:e>
                              </m:d>
                            </m:sup>
                          </m:sSup>
                          <m:r>
                            <a:rPr lang="ar-AE" sz="1800">
                              <a:latin typeface="Cambria Math" panose="02040503050406030204" pitchFamily="18" charset="0"/>
                            </a:rPr>
                            <m:t>−</m:t>
                          </m:r>
                          <m:sSup>
                            <m:sSupPr>
                              <m:ctrlPr>
                                <a:rPr lang="ar-AE" sz="1800" i="1">
                                  <a:latin typeface="Cambria Math" panose="02040503050406030204" pitchFamily="18" charset="0"/>
                                </a:rPr>
                              </m:ctrlPr>
                            </m:sSupPr>
                            <m:e>
                              <m:r>
                                <a:rPr lang="ar-AE" sz="1800">
                                  <a:latin typeface="Cambria Math" panose="02040503050406030204" pitchFamily="18" charset="0"/>
                                </a:rPr>
                                <m:t>𝑋</m:t>
                              </m:r>
                            </m:e>
                            <m:sup>
                              <m:d>
                                <m:dPr>
                                  <m:ctrlPr>
                                    <a:rPr lang="ar-AE" sz="1800" i="1">
                                      <a:latin typeface="Cambria Math" panose="02040503050406030204" pitchFamily="18" charset="0"/>
                                    </a:rPr>
                                  </m:ctrlPr>
                                </m:dPr>
                                <m:e>
                                  <m:r>
                                    <a:rPr lang="ar-AE" sz="1800">
                                      <a:latin typeface="Cambria Math" panose="02040503050406030204" pitchFamily="18" charset="0"/>
                                    </a:rPr>
                                    <m:t>𝑏</m:t>
                                  </m:r>
                                </m:e>
                              </m:d>
                            </m:sup>
                          </m:sSup>
                          <m:r>
                            <a:rPr lang="ar-AE" sz="1800">
                              <a:latin typeface="Cambria Math" panose="02040503050406030204" pitchFamily="18" charset="0"/>
                            </a:rPr>
                            <m:t>𝛽</m:t>
                          </m:r>
                          <m:sSubSup>
                            <m:sSubSupPr>
                              <m:ctrlPr>
                                <a:rPr lang="ar-AE" sz="1800" i="1">
                                  <a:latin typeface="Cambria Math" panose="02040503050406030204" pitchFamily="18" charset="0"/>
                                </a:rPr>
                              </m:ctrlPr>
                            </m:sSubSupPr>
                            <m:e>
                              <m:r>
                                <a:rPr lang="ar-AE" sz="1800">
                                  <a:latin typeface="Cambria Math" panose="02040503050406030204" pitchFamily="18" charset="0"/>
                                </a:rPr>
                                <m:t>∥</m:t>
                              </m:r>
                            </m:e>
                            <m:sub>
                              <m:r>
                                <a:rPr lang="ar-AE" sz="1800">
                                  <a:latin typeface="Cambria Math" panose="02040503050406030204" pitchFamily="18" charset="0"/>
                                </a:rPr>
                                <m:t>2</m:t>
                              </m:r>
                            </m:sub>
                            <m:sup>
                              <m:r>
                                <a:rPr lang="ar-AE" sz="1800">
                                  <a:latin typeface="Cambria Math" panose="02040503050406030204" pitchFamily="18" charset="0"/>
                                </a:rPr>
                                <m:t>2</m:t>
                              </m:r>
                            </m:sup>
                          </m:sSubSup>
                          <m:r>
                            <a:rPr lang="ar-AE" sz="1800">
                              <a:latin typeface="Cambria Math" panose="02040503050406030204" pitchFamily="18" charset="0"/>
                            </a:rPr>
                            <m:t>+</m:t>
                          </m:r>
                          <m:r>
                            <a:rPr lang="ar-AE" sz="1800">
                              <a:latin typeface="Cambria Math" panose="02040503050406030204" pitchFamily="18" charset="0"/>
                            </a:rPr>
                            <m:t>𝜆</m:t>
                          </m:r>
                          <m:nary>
                            <m:naryPr>
                              <m:chr m:val="∑"/>
                              <m:limLoc m:val="undOvr"/>
                              <m:ctrlPr>
                                <a:rPr lang="ar-AE" sz="1800" i="1">
                                  <a:latin typeface="Cambria Math" panose="02040503050406030204" pitchFamily="18" charset="0"/>
                                </a:rPr>
                              </m:ctrlPr>
                            </m:naryPr>
                            <m:sub>
                              <m:r>
                                <a:rPr lang="ar-AE" sz="1800">
                                  <a:latin typeface="Cambria Math" panose="02040503050406030204" pitchFamily="18" charset="0"/>
                                </a:rPr>
                                <m:t>𝑘</m:t>
                              </m:r>
                              <m:r>
                                <a:rPr lang="ar-AE" sz="1800">
                                  <a:latin typeface="Cambria Math" panose="02040503050406030204" pitchFamily="18" charset="0"/>
                                </a:rPr>
                                <m:t>=1</m:t>
                              </m:r>
                            </m:sub>
                            <m:sup>
                              <m:r>
                                <a:rPr lang="ar-AE" sz="1800">
                                  <a:latin typeface="Cambria Math" panose="02040503050406030204" pitchFamily="18" charset="0"/>
                                </a:rPr>
                                <m:t>𝑝</m:t>
                              </m:r>
                            </m:sup>
                            <m:e>
                              <m:f>
                                <m:fPr>
                                  <m:ctrlPr>
                                    <a:rPr lang="ar-AE" sz="1800" i="1">
                                      <a:latin typeface="Cambria Math" panose="02040503050406030204" pitchFamily="18" charset="0"/>
                                    </a:rPr>
                                  </m:ctrlPr>
                                </m:fPr>
                                <m:num>
                                  <m:d>
                                    <m:dPr>
                                      <m:begChr m:val="|"/>
                                      <m:endChr m:val="|"/>
                                      <m:ctrlPr>
                                        <a:rPr lang="ar-AE" sz="1800" i="1">
                                          <a:latin typeface="Cambria Math" panose="02040503050406030204" pitchFamily="18" charset="0"/>
                                        </a:rPr>
                                      </m:ctrlPr>
                                    </m:dPr>
                                    <m:e>
                                      <m:sSub>
                                        <m:sSubPr>
                                          <m:ctrlPr>
                                            <a:rPr lang="ar-AE" sz="1800" i="1">
                                              <a:latin typeface="Cambria Math" panose="02040503050406030204" pitchFamily="18" charset="0"/>
                                            </a:rPr>
                                          </m:ctrlPr>
                                        </m:sSubPr>
                                        <m:e>
                                          <m:r>
                                            <a:rPr lang="ar-AE" sz="1800">
                                              <a:latin typeface="Cambria Math" panose="02040503050406030204" pitchFamily="18" charset="0"/>
                                            </a:rPr>
                                            <m:t>𝛽</m:t>
                                          </m:r>
                                        </m:e>
                                        <m:sub>
                                          <m:r>
                                            <a:rPr lang="ar-AE" sz="1800">
                                              <a:latin typeface="Cambria Math" panose="02040503050406030204" pitchFamily="18" charset="0"/>
                                            </a:rPr>
                                            <m:t>𝑘</m:t>
                                          </m:r>
                                        </m:sub>
                                      </m:sSub>
                                    </m:e>
                                  </m:d>
                                </m:num>
                                <m:den>
                                  <m:sSubSup>
                                    <m:sSubSupPr>
                                      <m:ctrlPr>
                                        <a:rPr lang="ar-AE" sz="1800" i="1">
                                          <a:latin typeface="Cambria Math" panose="02040503050406030204" pitchFamily="18" charset="0"/>
                                        </a:rPr>
                                      </m:ctrlPr>
                                    </m:sSubSupPr>
                                    <m:e>
                                      <m:r>
                                        <a:rPr lang="ar-AE" sz="1800">
                                          <a:latin typeface="Cambria Math" panose="02040503050406030204" pitchFamily="18" charset="0"/>
                                        </a:rPr>
                                        <m:t>𝑤</m:t>
                                      </m:r>
                                    </m:e>
                                    <m:sub>
                                      <m:r>
                                        <a:rPr lang="ar-AE" sz="1800">
                                          <a:latin typeface="Cambria Math" panose="02040503050406030204" pitchFamily="18" charset="0"/>
                                        </a:rPr>
                                        <m:t>𝑘</m:t>
                                      </m:r>
                                    </m:sub>
                                    <m:sup>
                                      <m:d>
                                        <m:dPr>
                                          <m:ctrlPr>
                                            <a:rPr lang="ar-AE" sz="1800" i="1">
                                              <a:latin typeface="Cambria Math" panose="02040503050406030204" pitchFamily="18" charset="0"/>
                                            </a:rPr>
                                          </m:ctrlPr>
                                        </m:dPr>
                                        <m:e>
                                          <m:r>
                                            <a:rPr lang="ar-AE" sz="1800">
                                              <a:latin typeface="Cambria Math" panose="02040503050406030204" pitchFamily="18" charset="0"/>
                                            </a:rPr>
                                            <m:t>𝑏</m:t>
                                          </m:r>
                                        </m:e>
                                      </m:d>
                                    </m:sup>
                                  </m:sSubSup>
                                </m:den>
                              </m:f>
                            </m:e>
                          </m:nary>
                        </m:e>
                      </m:d>
                    </m:oMath>
                  </m:oMathPara>
                </a14:m>
                <a:endParaRPr sz="1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74514"/>
                <a:ext cx="8229600" cy="3394472"/>
              </a:xfrm>
              <a:blipFill>
                <a:blip r:embed="rId3"/>
                <a:stretch>
                  <a:fillRect l="-617" t="-373" r="-309" b="-61567"/>
                </a:stretch>
              </a:blipFill>
            </p:spPr>
            <p:txBody>
              <a:bodyPr/>
              <a:lstStyle/>
              <a:p>
                <a:r>
                  <a:rPr lang="en-CN">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lgn="l">
              <a:buNone/>
            </a:pPr>
            <a:r>
              <a:rPr dirty="0"/>
              <a:t>Application: Riboflavin Gene Expression Dataset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063229"/>
                <a:ext cx="8229600" cy="3531394"/>
              </a:xfrm>
            </p:spPr>
            <p:txBody>
              <a:bodyPr>
                <a:noAutofit/>
              </a:bodyPr>
              <a:lstStyle/>
              <a:p>
                <a:pPr marL="0" lvl="0" indent="0">
                  <a:buNone/>
                </a:pPr>
                <a:r>
                  <a:rPr sz="2000" b="1" dirty="0"/>
                  <a:t>Description:</a:t>
                </a:r>
                <a:r>
                  <a:rPr lang="en-US" sz="2000" b="1" dirty="0"/>
                  <a:t> </a:t>
                </a:r>
                <a:r>
                  <a:rPr sz="2000" dirty="0"/>
                  <a:t>The riboflavin dataset contains gene expression variables for </a:t>
                </a:r>
                <a14:m>
                  <m:oMath xmlns:m="http://schemas.openxmlformats.org/officeDocument/2006/math">
                    <m:r>
                      <a:rPr sz="2000">
                        <a:latin typeface="Cambria Math" panose="02040503050406030204" pitchFamily="18" charset="0"/>
                      </a:rPr>
                      <m:t>𝑝</m:t>
                    </m:r>
                    <m:r>
                      <a:rPr sz="2000">
                        <a:latin typeface="Cambria Math" panose="02040503050406030204" pitchFamily="18" charset="0"/>
                      </a:rPr>
                      <m:t>=4088</m:t>
                    </m:r>
                  </m:oMath>
                </a14:m>
                <a:r>
                  <a:rPr sz="2000" dirty="0"/>
                  <a:t> genes across </a:t>
                </a:r>
                <a14:m>
                  <m:oMath xmlns:m="http://schemas.openxmlformats.org/officeDocument/2006/math">
                    <m:r>
                      <a:rPr sz="2000">
                        <a:latin typeface="Cambria Math" panose="02040503050406030204" pitchFamily="18" charset="0"/>
                      </a:rPr>
                      <m:t>𝑛</m:t>
                    </m:r>
                    <m:r>
                      <a:rPr sz="2000">
                        <a:latin typeface="Cambria Math" panose="02040503050406030204" pitchFamily="18" charset="0"/>
                      </a:rPr>
                      <m:t>=71</m:t>
                    </m:r>
                  </m:oMath>
                </a14:m>
                <a:r>
                  <a:rPr sz="2000" dirty="0"/>
                  <a:t> samples of </a:t>
                </a:r>
                <a:r>
                  <a:rPr sz="2000" i="1" dirty="0"/>
                  <a:t>bacillus subtilis</a:t>
                </a:r>
                <a:r>
                  <a:rPr sz="2000" dirty="0"/>
                  <a:t>. </a:t>
                </a:r>
                <a:r>
                  <a:rPr lang="en-US" sz="2000" dirty="0"/>
                  <a:t>Response variables are </a:t>
                </a:r>
                <a:r>
                  <a:rPr sz="2000" dirty="0"/>
                  <a:t>logarithm</a:t>
                </a:r>
                <a:r>
                  <a:rPr lang="en-US" sz="2000" dirty="0"/>
                  <a:t>ic</a:t>
                </a:r>
                <a:r>
                  <a:rPr sz="2000" dirty="0"/>
                  <a:t> of riboflavin, or vitamin B2, production rate using all gene expression features from the entire genome of bacillus subtilis. </a:t>
                </a:r>
                <a:endParaRPr lang="en-US" sz="2000" dirty="0"/>
              </a:p>
              <a:p>
                <a:pPr marL="0" lvl="0" indent="0">
                  <a:buNone/>
                </a:pPr>
                <a:r>
                  <a:rPr sz="2000" b="1" dirty="0"/>
                  <a:t>Dimension:</a:t>
                </a:r>
                <a:r>
                  <a:rPr lang="en-US" sz="2000" b="1" dirty="0"/>
                  <a:t> </a:t>
                </a:r>
                <a14:m>
                  <m:oMath xmlns:m="http://schemas.openxmlformats.org/officeDocument/2006/math">
                    <m:r>
                      <a:rPr sz="2000">
                        <a:latin typeface="Cambria Math" panose="02040503050406030204" pitchFamily="18" charset="0"/>
                      </a:rPr>
                      <m:t>𝑋</m:t>
                    </m:r>
                    <m:r>
                      <a:rPr sz="2000">
                        <a:latin typeface="Cambria Math" panose="02040503050406030204" pitchFamily="18" charset="0"/>
                      </a:rPr>
                      <m:t>∈</m:t>
                    </m:r>
                    <m:sSup>
                      <m:sSupPr>
                        <m:ctrlPr>
                          <a:rPr sz="2000" i="1">
                            <a:latin typeface="Cambria Math" panose="02040503050406030204" pitchFamily="18" charset="0"/>
                          </a:rPr>
                        </m:ctrlPr>
                      </m:sSupPr>
                      <m:e>
                        <m:r>
                          <a:rPr sz="2000">
                            <a:latin typeface="Cambria Math" panose="02040503050406030204" pitchFamily="18" charset="0"/>
                          </a:rPr>
                          <m:t>ℝ</m:t>
                        </m:r>
                      </m:e>
                      <m:sup>
                        <m:r>
                          <a:rPr sz="2000">
                            <a:latin typeface="Cambria Math" panose="02040503050406030204" pitchFamily="18" charset="0"/>
                          </a:rPr>
                          <m:t>71×4088</m:t>
                        </m:r>
                      </m:sup>
                    </m:sSup>
                  </m:oMath>
                </a14:m>
                <a:r>
                  <a:rPr sz="2000" dirty="0"/>
                  <a:t>, </a:t>
                </a:r>
                <a14:m>
                  <m:oMath xmlns:m="http://schemas.openxmlformats.org/officeDocument/2006/math">
                    <m:r>
                      <a:rPr sz="2000">
                        <a:latin typeface="Cambria Math" panose="02040503050406030204" pitchFamily="18" charset="0"/>
                      </a:rPr>
                      <m:t>𝑌</m:t>
                    </m:r>
                    <m:r>
                      <a:rPr sz="2000">
                        <a:latin typeface="Cambria Math" panose="02040503050406030204" pitchFamily="18" charset="0"/>
                      </a:rPr>
                      <m:t>∈</m:t>
                    </m:r>
                    <m:sSup>
                      <m:sSupPr>
                        <m:ctrlPr>
                          <a:rPr sz="2000" i="1">
                            <a:latin typeface="Cambria Math" panose="02040503050406030204" pitchFamily="18" charset="0"/>
                          </a:rPr>
                        </m:ctrlPr>
                      </m:sSupPr>
                      <m:e>
                        <m:r>
                          <a:rPr sz="2000">
                            <a:latin typeface="Cambria Math" panose="02040503050406030204" pitchFamily="18" charset="0"/>
                          </a:rPr>
                          <m:t>ℝ</m:t>
                        </m:r>
                      </m:e>
                      <m:sup>
                        <m:r>
                          <a:rPr sz="2000">
                            <a:latin typeface="Cambria Math" panose="02040503050406030204" pitchFamily="18" charset="0"/>
                          </a:rPr>
                          <m:t>71×1</m:t>
                        </m:r>
                      </m:sup>
                    </m:sSup>
                  </m:oMath>
                </a14:m>
                <a:endParaRPr sz="2000" dirty="0"/>
              </a:p>
              <a:p>
                <a:pPr marL="0" lvl="0" indent="0">
                  <a:buNone/>
                </a:pPr>
                <a:r>
                  <a:rPr sz="2000" b="1" dirty="0"/>
                  <a:t>Goal:</a:t>
                </a:r>
                <a:endParaRPr lang="en-US" sz="2000" b="1" dirty="0"/>
              </a:p>
              <a:p>
                <a:r>
                  <a:rPr lang="en-US" sz="2000" dirty="0"/>
                  <a:t>E</a:t>
                </a:r>
                <a:r>
                  <a:rPr sz="2000" dirty="0"/>
                  <a:t>xamine the robustness of selected variables</a:t>
                </a:r>
              </a:p>
              <a:p>
                <a:pPr lvl="0"/>
                <a:r>
                  <a:rPr sz="2000" dirty="0"/>
                  <a:t>Compare regularization path, lasso path, and randomized lasso path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063229"/>
                <a:ext cx="8229600" cy="3531394"/>
              </a:xfrm>
              <a:blipFill>
                <a:blip r:embed="rId3"/>
                <a:stretch>
                  <a:fillRect l="-772" t="-717"/>
                </a:stretch>
              </a:blipFill>
            </p:spPr>
            <p:txBody>
              <a:bodyPr/>
              <a:lstStyle/>
              <a:p>
                <a:r>
                  <a:rPr lang="en-CN">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lgn="l">
              <a:buNone/>
            </a:pPr>
            <a:r>
              <a:rPr lang="en-US" dirty="0"/>
              <a:t>Application: Riboflavin Gene Expression Dataset</a:t>
            </a:r>
          </a:p>
        </p:txBody>
      </p:sp>
      <p:pic>
        <p:nvPicPr>
          <p:cNvPr id="5" name="Content Placeholder 4">
            <a:extLst>
              <a:ext uri="{FF2B5EF4-FFF2-40B4-BE49-F238E27FC236}">
                <a16:creationId xmlns:a16="http://schemas.microsoft.com/office/drawing/2014/main" id="{B90398C7-5B0E-CE16-10A2-600FAD40B8BE}"/>
              </a:ext>
            </a:extLst>
          </p:cNvPr>
          <p:cNvPicPr>
            <a:picLocks noGrp="1" noChangeAspect="1"/>
          </p:cNvPicPr>
          <p:nvPr>
            <p:ph idx="1"/>
          </p:nvPr>
        </p:nvPicPr>
        <p:blipFill>
          <a:blip r:embed="rId3"/>
          <a:stretch>
            <a:fillRect/>
          </a:stretch>
        </p:blipFill>
        <p:spPr>
          <a:xfrm>
            <a:off x="277900" y="845503"/>
            <a:ext cx="2861264" cy="3815019"/>
          </a:xfrm>
        </p:spPr>
      </p:pic>
      <p:pic>
        <p:nvPicPr>
          <p:cNvPr id="7" name="Picture 6">
            <a:extLst>
              <a:ext uri="{FF2B5EF4-FFF2-40B4-BE49-F238E27FC236}">
                <a16:creationId xmlns:a16="http://schemas.microsoft.com/office/drawing/2014/main" id="{A291970B-E774-56CD-F958-C815858E3B55}"/>
              </a:ext>
            </a:extLst>
          </p:cNvPr>
          <p:cNvPicPr>
            <a:picLocks noChangeAspect="1"/>
          </p:cNvPicPr>
          <p:nvPr/>
        </p:nvPicPr>
        <p:blipFill>
          <a:blip r:embed="rId4"/>
          <a:stretch>
            <a:fillRect/>
          </a:stretch>
        </p:blipFill>
        <p:spPr>
          <a:xfrm>
            <a:off x="3122472" y="841049"/>
            <a:ext cx="2899055" cy="3865406"/>
          </a:xfrm>
          <a:prstGeom prst="rect">
            <a:avLst/>
          </a:prstGeom>
        </p:spPr>
      </p:pic>
      <p:pic>
        <p:nvPicPr>
          <p:cNvPr id="9" name="Picture 8">
            <a:extLst>
              <a:ext uri="{FF2B5EF4-FFF2-40B4-BE49-F238E27FC236}">
                <a16:creationId xmlns:a16="http://schemas.microsoft.com/office/drawing/2014/main" id="{EC6ED1B7-0FFE-ACE1-40A4-E27A2067522A}"/>
              </a:ext>
            </a:extLst>
          </p:cNvPr>
          <p:cNvPicPr>
            <a:picLocks noChangeAspect="1"/>
          </p:cNvPicPr>
          <p:nvPr/>
        </p:nvPicPr>
        <p:blipFill>
          <a:blip r:embed="rId5"/>
          <a:stretch>
            <a:fillRect/>
          </a:stretch>
        </p:blipFill>
        <p:spPr>
          <a:xfrm>
            <a:off x="6000428" y="862255"/>
            <a:ext cx="2899055" cy="3865407"/>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AEB566B-DDC0-0629-A283-B6350A2DFE58}"/>
                  </a:ext>
                </a:extLst>
              </p:cNvPr>
              <p:cNvSpPr txBox="1"/>
              <p:nvPr/>
            </p:nvSpPr>
            <p:spPr>
              <a:xfrm>
                <a:off x="277900" y="4471869"/>
                <a:ext cx="8408900" cy="461665"/>
              </a:xfrm>
              <a:prstGeom prst="rect">
                <a:avLst/>
              </a:prstGeom>
              <a:noFill/>
              <a:ln>
                <a:noFill/>
              </a:ln>
            </p:spPr>
            <p:txBody>
              <a:bodyPr wrap="square" rtlCol="0">
                <a:spAutoFit/>
              </a:bodyPr>
              <a:lstStyle/>
              <a:p>
                <a:pPr marL="228600" indent="-228600">
                  <a:buAutoNum type="arabicParenR"/>
                </a:pPr>
                <a:r>
                  <a:rPr lang="en-US" sz="1200" dirty="0"/>
                  <a:t>Lasso regularization path (‘      ‘</a:t>
                </a:r>
                <a:r>
                  <a:rPr lang="en-US" altLang="zh-CN" sz="1200" dirty="0"/>
                  <a:t>are</a:t>
                </a:r>
                <a:r>
                  <a:rPr lang="zh-CN" altLang="en-US" sz="1200" dirty="0"/>
                  <a:t> </a:t>
                </a:r>
                <a:r>
                  <a:rPr lang="en-US" altLang="zh-CN" sz="1200" dirty="0"/>
                  <a:t>relevant</a:t>
                </a:r>
                <a:r>
                  <a:rPr lang="zh-CN" altLang="en-US" sz="1200" dirty="0"/>
                  <a:t> </a:t>
                </a:r>
                <a:r>
                  <a:rPr lang="en-US" altLang="zh-CN" sz="1200" dirty="0"/>
                  <a:t>variables, ‘       ’ lines are noise variables;</a:t>
                </a:r>
                <a:r>
                  <a:rPr lang="en-US" sz="1200" dirty="0"/>
                  <a:t> 2) Lasso stability selection path; </a:t>
                </a:r>
              </a:p>
              <a:p>
                <a:r>
                  <a:rPr lang="en-US" sz="1200" dirty="0"/>
                  <a:t>3) Randomized Lasso stability path with </a:t>
                </a:r>
                <a14:m>
                  <m:oMath xmlns:m="http://schemas.openxmlformats.org/officeDocument/2006/math">
                    <m:r>
                      <a:rPr lang="en-US" sz="1200" i="1" smtClean="0">
                        <a:latin typeface="Cambria Math" panose="02040503050406030204" pitchFamily="18" charset="0"/>
                        <a:ea typeface="Cambria Math" panose="02040503050406030204" pitchFamily="18" charset="0"/>
                      </a:rPr>
                      <m:t>𝛼</m:t>
                    </m:r>
                    <m:r>
                      <a:rPr lang="en-US" sz="1200" b="0" i="1" smtClean="0">
                        <a:latin typeface="Cambria Math" panose="02040503050406030204" pitchFamily="18" charset="0"/>
                        <a:ea typeface="Cambria Math" panose="02040503050406030204" pitchFamily="18" charset="0"/>
                      </a:rPr>
                      <m:t>=0.2</m:t>
                    </m:r>
                  </m:oMath>
                </a14:m>
                <a:endParaRPr lang="en-CN" sz="1200" dirty="0"/>
              </a:p>
            </p:txBody>
          </p:sp>
        </mc:Choice>
        <mc:Fallback xmlns="">
          <p:sp>
            <p:nvSpPr>
              <p:cNvPr id="11" name="TextBox 10">
                <a:extLst>
                  <a:ext uri="{FF2B5EF4-FFF2-40B4-BE49-F238E27FC236}">
                    <a16:creationId xmlns:a16="http://schemas.microsoft.com/office/drawing/2014/main" id="{DAEB566B-DDC0-0629-A283-B6350A2DFE58}"/>
                  </a:ext>
                </a:extLst>
              </p:cNvPr>
              <p:cNvSpPr txBox="1">
                <a:spLocks noRot="1" noChangeAspect="1" noMove="1" noResize="1" noEditPoints="1" noAdjustHandles="1" noChangeArrowheads="1" noChangeShapeType="1" noTextEdit="1"/>
              </p:cNvSpPr>
              <p:nvPr/>
            </p:nvSpPr>
            <p:spPr>
              <a:xfrm>
                <a:off x="277900" y="4471869"/>
                <a:ext cx="8408900" cy="461665"/>
              </a:xfrm>
              <a:prstGeom prst="rect">
                <a:avLst/>
              </a:prstGeom>
              <a:blipFill>
                <a:blip r:embed="rId6"/>
                <a:stretch>
                  <a:fillRect l="-151" t="-2703" b="-10811"/>
                </a:stretch>
              </a:blipFill>
              <a:ln>
                <a:noFill/>
              </a:ln>
            </p:spPr>
            <p:txBody>
              <a:bodyPr/>
              <a:lstStyle/>
              <a:p>
                <a:r>
                  <a:rPr lang="en-CN">
                    <a:noFill/>
                  </a:rPr>
                  <a:t> </a:t>
                </a:r>
              </a:p>
            </p:txBody>
          </p:sp>
        </mc:Fallback>
      </mc:AlternateContent>
      <p:cxnSp>
        <p:nvCxnSpPr>
          <p:cNvPr id="13" name="Straight Connector 12">
            <a:extLst>
              <a:ext uri="{FF2B5EF4-FFF2-40B4-BE49-F238E27FC236}">
                <a16:creationId xmlns:a16="http://schemas.microsoft.com/office/drawing/2014/main" id="{925F0F06-401C-2361-4EE3-C3C64FA0B08B}"/>
              </a:ext>
            </a:extLst>
          </p:cNvPr>
          <p:cNvCxnSpPr/>
          <p:nvPr/>
        </p:nvCxnSpPr>
        <p:spPr>
          <a:xfrm>
            <a:off x="2267712" y="4648460"/>
            <a:ext cx="192024" cy="0"/>
          </a:xfrm>
          <a:prstGeom prst="line">
            <a:avLst/>
          </a:prstGeom>
          <a:ln/>
        </p:spPr>
        <p:style>
          <a:lnRef idx="2">
            <a:schemeClr val="accent2"/>
          </a:lnRef>
          <a:fillRef idx="0">
            <a:schemeClr val="accent2"/>
          </a:fillRef>
          <a:effectRef idx="1">
            <a:schemeClr val="accent2"/>
          </a:effectRef>
          <a:fontRef idx="minor">
            <a:schemeClr val="tx1"/>
          </a:fontRef>
        </p:style>
      </p:cxnSp>
      <p:cxnSp>
        <p:nvCxnSpPr>
          <p:cNvPr id="17" name="Straight Connector 16">
            <a:extLst>
              <a:ext uri="{FF2B5EF4-FFF2-40B4-BE49-F238E27FC236}">
                <a16:creationId xmlns:a16="http://schemas.microsoft.com/office/drawing/2014/main" id="{5693075F-EB67-9DD3-7414-3CCD87D2E22A}"/>
              </a:ext>
            </a:extLst>
          </p:cNvPr>
          <p:cNvCxnSpPr>
            <a:cxnSpLocks/>
          </p:cNvCxnSpPr>
          <p:nvPr/>
        </p:nvCxnSpPr>
        <p:spPr>
          <a:xfrm>
            <a:off x="3959352" y="4648460"/>
            <a:ext cx="256032"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lgn="l">
              <a:buNone/>
            </a:pPr>
            <a:r>
              <a:rPr dirty="0"/>
              <a:t>Extension: Mis-specified model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pPr lvl="0"/>
                <a14:m>
                  <m:oMath xmlns:m="http://schemas.openxmlformats.org/officeDocument/2006/math">
                    <m:r>
                      <a:rPr lang="en-US" smtClean="0">
                        <a:latin typeface="Cambria Math" panose="02040503050406030204" pitchFamily="18" charset="0"/>
                      </a:rPr>
                      <m:t>𝑝</m:t>
                    </m:r>
                    <m:r>
                      <a:rPr lang="en-US" smtClean="0">
                        <a:latin typeface="Cambria Math" panose="02040503050406030204" pitchFamily="18" charset="0"/>
                      </a:rPr>
                      <m:t>=1000</m:t>
                    </m:r>
                  </m:oMath>
                </a14:m>
                <a:r>
                  <a:rPr lang="en-US" dirty="0"/>
                  <a:t>, </a:t>
                </a:r>
                <a14:m>
                  <m:oMath xmlns:m="http://schemas.openxmlformats.org/officeDocument/2006/math">
                    <m:r>
                      <a:rPr lang="en-US">
                        <a:latin typeface="Cambria Math" panose="02040503050406030204" pitchFamily="18" charset="0"/>
                      </a:rPr>
                      <m:t>𝑛</m:t>
                    </m:r>
                    <m:r>
                      <a:rPr lang="en-US">
                        <a:latin typeface="Cambria Math" panose="02040503050406030204" pitchFamily="18" charset="0"/>
                      </a:rPr>
                      <m:t>=50</m:t>
                    </m:r>
                  </m:oMath>
                </a14:m>
                <a:endParaRPr lang="en-US" dirty="0"/>
              </a:p>
              <a:p>
                <a:pPr lvl="0"/>
                <a:r>
                  <a:rPr lang="en-US" dirty="0"/>
                  <a:t>Relevant predictors: </a:t>
                </a:r>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𝑋</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𝑋</m:t>
                        </m:r>
                      </m:e>
                      <m:sub>
                        <m:r>
                          <a:rPr lang="ar-AE">
                            <a:latin typeface="Cambria Math" panose="02040503050406030204" pitchFamily="18" charset="0"/>
                          </a:rPr>
                          <m:t>2</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𝑋</m:t>
                        </m:r>
                      </m:e>
                      <m:sub>
                        <m:r>
                          <a:rPr lang="ar-AE">
                            <a:latin typeface="Cambria Math" panose="02040503050406030204" pitchFamily="18" charset="0"/>
                          </a:rPr>
                          <m:t>3</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𝑋</m:t>
                        </m:r>
                      </m:e>
                      <m:sub>
                        <m:r>
                          <a:rPr lang="ar-AE">
                            <a:latin typeface="Cambria Math" panose="02040503050406030204" pitchFamily="18" charset="0"/>
                          </a:rPr>
                          <m:t>4</m:t>
                        </m:r>
                      </m:sub>
                    </m:sSub>
                  </m:oMath>
                </a14:m>
                <a:r>
                  <a:rPr lang="ar-AE" dirty="0"/>
                  <a:t>, </a:t>
                </a:r>
                <a:r>
                  <a:rPr lang="en-US" dirty="0"/>
                  <a:t>Noise predictors: </a:t>
                </a:r>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𝑋</m:t>
                        </m:r>
                      </m:e>
                      <m:sub>
                        <m:r>
                          <a:rPr lang="ar-AE">
                            <a:latin typeface="Cambria Math" panose="02040503050406030204" pitchFamily="18" charset="0"/>
                          </a:rPr>
                          <m:t>5</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𝑋</m:t>
                        </m:r>
                      </m:e>
                      <m:sub>
                        <m:r>
                          <a:rPr lang="ar-AE">
                            <a:latin typeface="Cambria Math" panose="02040503050406030204" pitchFamily="18" charset="0"/>
                          </a:rPr>
                          <m:t>2000</m:t>
                        </m:r>
                      </m:sub>
                    </m:sSub>
                  </m:oMath>
                </a14:m>
                <a:endParaRPr lang="ar-AE" dirty="0"/>
              </a:p>
              <a:p>
                <a:pPr lvl="0"/>
                <a14:m>
                  <m:oMath xmlns:m="http://schemas.openxmlformats.org/officeDocument/2006/math">
                    <m:r>
                      <a:rPr lang="ar-AE">
                        <a:latin typeface="Cambria Math" panose="02040503050406030204" pitchFamily="18" charset="0"/>
                      </a:rPr>
                      <m:t>𝛽</m:t>
                    </m:r>
                    <m:r>
                      <a:rPr lang="ar-AE">
                        <a:latin typeface="Cambria Math" panose="02040503050406030204" pitchFamily="18" charset="0"/>
                      </a:rPr>
                      <m:t>=</m:t>
                    </m:r>
                    <m:d>
                      <m:dPr>
                        <m:begChr m:val="["/>
                        <m:endChr m:val="]"/>
                        <m:ctrlPr>
                          <a:rPr lang="ar-AE" i="1">
                            <a:latin typeface="Cambria Math" panose="02040503050406030204" pitchFamily="18" charset="0"/>
                          </a:rPr>
                        </m:ctrlPr>
                      </m:dPr>
                      <m:e>
                        <m:r>
                          <a:rPr lang="ar-AE">
                            <a:latin typeface="Cambria Math" panose="02040503050406030204" pitchFamily="18" charset="0"/>
                          </a:rPr>
                          <m:t>1,1,1,1,0,...,0</m:t>
                        </m:r>
                      </m:e>
                    </m:d>
                  </m:oMath>
                </a14:m>
                <a:r>
                  <a:rPr lang="ar-AE" dirty="0"/>
                  <a:t>, </a:t>
                </a:r>
                <a14:m>
                  <m:oMath xmlns:m="http://schemas.openxmlformats.org/officeDocument/2006/math">
                    <m:r>
                      <a:rPr lang="ar-AE">
                        <a:latin typeface="Cambria Math" panose="02040503050406030204" pitchFamily="18" charset="0"/>
                      </a:rPr>
                      <m:t>𝜖</m:t>
                    </m:r>
                    <m:r>
                      <a:rPr lang="ar-AE">
                        <a:latin typeface="Cambria Math" panose="02040503050406030204" pitchFamily="18" charset="0"/>
                      </a:rPr>
                      <m:t>∼</m:t>
                    </m:r>
                    <m:r>
                      <a:rPr lang="ar-AE">
                        <a:latin typeface="Cambria Math" panose="02040503050406030204" pitchFamily="18" charset="0"/>
                      </a:rPr>
                      <m:t>𝑁</m:t>
                    </m:r>
                    <m:d>
                      <m:dPr>
                        <m:ctrlPr>
                          <a:rPr lang="ar-AE" i="1">
                            <a:latin typeface="Cambria Math" panose="02040503050406030204" pitchFamily="18" charset="0"/>
                          </a:rPr>
                        </m:ctrlPr>
                      </m:dPr>
                      <m:e>
                        <m:r>
                          <a:rPr lang="ar-AE">
                            <a:latin typeface="Cambria Math" panose="02040503050406030204" pitchFamily="18" charset="0"/>
                          </a:rPr>
                          <m:t>0,</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4</m:t>
                            </m:r>
                          </m:den>
                        </m:f>
                      </m:e>
                    </m:d>
                  </m:oMath>
                </a14:m>
                <a:r>
                  <a:rPr lang="ar-AE" dirty="0"/>
                  <a:t>,</a:t>
                </a:r>
              </a:p>
              <a:p>
                <a:pPr lvl="0"/>
                <a14:m>
                  <m:oMath xmlns:m="http://schemas.openxmlformats.org/officeDocument/2006/math">
                    <m:r>
                      <a:rPr lang="ar-AE">
                        <a:latin typeface="Cambria Math" panose="02040503050406030204" pitchFamily="18" charset="0"/>
                      </a:rPr>
                      <m:t>𝑌</m:t>
                    </m:r>
                    <m:r>
                      <a:rPr lang="ar-AE">
                        <a:latin typeface="Cambria Math" panose="02040503050406030204" pitchFamily="18" charset="0"/>
                      </a:rPr>
                      <m:t>=</m:t>
                    </m:r>
                    <m:r>
                      <a:rPr lang="ar-AE">
                        <a:latin typeface="Cambria Math" panose="02040503050406030204" pitchFamily="18" charset="0"/>
                      </a:rPr>
                      <m:t>𝑋</m:t>
                    </m:r>
                    <m:r>
                      <a:rPr lang="ar-AE">
                        <a:latin typeface="Cambria Math" panose="02040503050406030204" pitchFamily="18" charset="0"/>
                      </a:rPr>
                      <m:t>𝛽</m:t>
                    </m:r>
                    <m:r>
                      <a:rPr lang="ar-AE">
                        <a:latin typeface="Cambria Math" panose="02040503050406030204" pitchFamily="18" charset="0"/>
                      </a:rPr>
                      <m:t>+</m:t>
                    </m:r>
                    <m:r>
                      <a:rPr lang="ar-AE">
                        <a:latin typeface="Cambria Math" panose="02040503050406030204" pitchFamily="18" charset="0"/>
                      </a:rPr>
                      <m:t>𝜖</m:t>
                    </m:r>
                  </m:oMath>
                </a14:m>
                <a:endParaRPr lang="en-US" dirty="0"/>
              </a:p>
              <a:p>
                <a:pPr lvl="0"/>
                <a14:m>
                  <m:oMath xmlns:m="http://schemas.openxmlformats.org/officeDocument/2006/math">
                    <m:r>
                      <a:rPr lang="en-US" b="0" i="1" smtClean="0">
                        <a:latin typeface="Cambria Math" panose="02040503050406030204" pitchFamily="18" charset="0"/>
                      </a:rPr>
                      <m:t>𝜇</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r>
                      <a:rPr lang="en-US" b="0" i="1" smtClean="0">
                        <a:latin typeface="Cambria Math" panose="02040503050406030204" pitchFamily="18" charset="0"/>
                      </a:rPr>
                      <m:t>𝜇</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e>
                    </m:d>
                    <m:r>
                      <a:rPr lang="en-US" b="0" i="1" smtClean="0">
                        <a:latin typeface="Cambria Math" panose="02040503050406030204" pitchFamily="18" charset="0"/>
                      </a:rPr>
                      <m:t>= …=</m:t>
                    </m:r>
                    <m:r>
                      <a:rPr lang="en-US" b="0" i="1" smtClean="0">
                        <a:latin typeface="Cambria Math" panose="02040503050406030204" pitchFamily="18" charset="0"/>
                      </a:rPr>
                      <m:t>𝜇</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2000</m:t>
                            </m:r>
                          </m:sub>
                        </m:sSub>
                      </m:e>
                    </m:d>
                    <m:r>
                      <a:rPr lang="en-US" b="0" i="1" smtClean="0">
                        <a:latin typeface="Cambria Math" panose="02040503050406030204" pitchFamily="18" charset="0"/>
                      </a:rPr>
                      <m:t>=0</m:t>
                    </m:r>
                  </m:oMath>
                </a14:m>
                <a:endParaRPr lang="ar-AE" dirty="0"/>
              </a:p>
              <a:p>
                <a:pPr lvl="0"/>
                <a14:m>
                  <m:oMath xmlns:m="http://schemas.openxmlformats.org/officeDocument/2006/math">
                    <m:r>
                      <a:rPr lang="ar-AE">
                        <a:latin typeface="Cambria Math" panose="02040503050406030204" pitchFamily="18" charset="0"/>
                      </a:rPr>
                      <m:t>𝑣𝑎𝑟</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a:latin typeface="Cambria Math" panose="02040503050406030204" pitchFamily="18" charset="0"/>
                              </a:rPr>
                              <m:t>𝑋</m:t>
                            </m:r>
                          </m:e>
                          <m:sub>
                            <m:r>
                              <a:rPr lang="ar-AE">
                                <a:latin typeface="Cambria Math" panose="02040503050406030204" pitchFamily="18" charset="0"/>
                              </a:rPr>
                              <m:t>1</m:t>
                            </m:r>
                          </m:sub>
                        </m:sSub>
                      </m:e>
                    </m:d>
                    <m:r>
                      <a:rPr lang="ar-AE">
                        <a:latin typeface="Cambria Math" panose="02040503050406030204" pitchFamily="18" charset="0"/>
                      </a:rPr>
                      <m:t>=1.2≠</m:t>
                    </m:r>
                    <m:r>
                      <a:rPr lang="ar-AE">
                        <a:latin typeface="Cambria Math" panose="02040503050406030204" pitchFamily="18" charset="0"/>
                      </a:rPr>
                      <m:t>𝑣𝑎𝑟</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a:latin typeface="Cambria Math" panose="02040503050406030204" pitchFamily="18" charset="0"/>
                              </a:rPr>
                              <m:t>𝑋</m:t>
                            </m:r>
                          </m:e>
                          <m:sub>
                            <m:r>
                              <a:rPr lang="ar-AE">
                                <a:latin typeface="Cambria Math" panose="02040503050406030204" pitchFamily="18" charset="0"/>
                              </a:rPr>
                              <m:t>2</m:t>
                            </m:r>
                          </m:sub>
                        </m:sSub>
                      </m:e>
                    </m:d>
                    <m:r>
                      <a:rPr lang="ar-AE">
                        <a:latin typeface="Cambria Math" panose="02040503050406030204" pitchFamily="18" charset="0"/>
                      </a:rPr>
                      <m:t>=0.5</m:t>
                    </m:r>
                    <m:r>
                      <a:rPr lang="en-US" b="0" i="0" smtClean="0">
                        <a:latin typeface="Cambria Math" panose="02040503050406030204" pitchFamily="18" charset="0"/>
                      </a:rPr>
                      <m:t>, </m:t>
                    </m:r>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X</m:t>
                            </m:r>
                          </m:e>
                          <m:sub>
                            <m:r>
                              <a:rPr lang="en-US" b="0" i="0" smtClean="0">
                                <a:latin typeface="Cambria Math" panose="02040503050406030204" pitchFamily="18" charset="0"/>
                              </a:rPr>
                              <m:t>1</m:t>
                            </m:r>
                          </m:sub>
                        </m:sSub>
                      </m:e>
                    </m:d>
                    <m:r>
                      <a:rPr lang="en-US" b="0" i="0" smtClean="0">
                        <a:latin typeface="Cambria Math" panose="02040503050406030204" pitchFamily="18" charset="0"/>
                      </a:rPr>
                      <m:t>&gt;</m:t>
                    </m:r>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X</m:t>
                            </m:r>
                          </m:e>
                          <m:sub>
                            <m:r>
                              <a:rPr lang="en-US" b="0" i="0" smtClean="0">
                                <a:latin typeface="Cambria Math" panose="02040503050406030204" pitchFamily="18" charset="0"/>
                              </a:rPr>
                              <m:t>2</m:t>
                            </m:r>
                          </m:sub>
                        </m:sSub>
                      </m:e>
                    </m:d>
                  </m:oMath>
                </a14:m>
                <a:endParaRPr lang="en-US" b="0" i="0" dirty="0">
                  <a:latin typeface="Cambria Math" panose="02040503050406030204" pitchFamily="18" charset="0"/>
                </a:endParaRPr>
              </a:p>
              <a:p>
                <a:pPr lvl="0"/>
                <a14:m>
                  <m:oMath xmlns:m="http://schemas.openxmlformats.org/officeDocument/2006/math">
                    <m:r>
                      <a:rPr lang="ar-AE">
                        <a:latin typeface="Cambria Math" panose="02040503050406030204" pitchFamily="18" charset="0"/>
                      </a:rPr>
                      <m:t>𝑣𝑎𝑟</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a:latin typeface="Cambria Math" panose="02040503050406030204" pitchFamily="18" charset="0"/>
                              </a:rPr>
                              <m:t>𝑋</m:t>
                            </m:r>
                          </m:e>
                          <m:sub>
                            <m:r>
                              <a:rPr lang="ar-AE">
                                <a:latin typeface="Cambria Math" panose="02040503050406030204" pitchFamily="18" charset="0"/>
                              </a:rPr>
                              <m:t>3</m:t>
                            </m:r>
                          </m:sub>
                        </m:sSub>
                      </m:e>
                    </m:d>
                    <m:r>
                      <a:rPr lang="ar-AE">
                        <a:latin typeface="Cambria Math" panose="02040503050406030204" pitchFamily="18" charset="0"/>
                      </a:rPr>
                      <m:t>=1=...=</m:t>
                    </m:r>
                    <m:r>
                      <a:rPr lang="ar-AE">
                        <a:latin typeface="Cambria Math" panose="02040503050406030204" pitchFamily="18" charset="0"/>
                      </a:rPr>
                      <m:t>𝑣𝑎𝑟</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a:latin typeface="Cambria Math" panose="02040503050406030204" pitchFamily="18" charset="0"/>
                              </a:rPr>
                              <m:t>𝑋</m:t>
                            </m:r>
                          </m:e>
                          <m:sub>
                            <m:r>
                              <a:rPr lang="ar-AE">
                                <a:latin typeface="Cambria Math" panose="02040503050406030204" pitchFamily="18" charset="0"/>
                              </a:rPr>
                              <m:t>2000</m:t>
                            </m:r>
                          </m:sub>
                        </m:sSub>
                      </m:e>
                    </m:d>
                    <m:r>
                      <a:rPr lang="ar-AE">
                        <a:latin typeface="Cambria Math" panose="02040503050406030204" pitchFamily="18" charset="0"/>
                      </a:rPr>
                      <m:t>=1</m:t>
                    </m:r>
                  </m:oMath>
                </a14:m>
                <a:endParaRPr lang="ar-AE" dirty="0"/>
              </a:p>
              <a:p>
                <a:pPr lvl="0"/>
                <a14:m>
                  <m:oMath xmlns:m="http://schemas.openxmlformats.org/officeDocument/2006/math">
                    <m:r>
                      <a:rPr lang="ar-AE">
                        <a:latin typeface="Cambria Math" panose="02040503050406030204" pitchFamily="18" charset="0"/>
                      </a:rPr>
                      <m:t>𝑐𝑜𝑟𝑟</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a:latin typeface="Cambria Math" panose="02040503050406030204" pitchFamily="18" charset="0"/>
                              </a:rPr>
                              <m:t>𝑋</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𝑋</m:t>
                            </m:r>
                          </m:e>
                          <m:sub>
                            <m:r>
                              <a:rPr lang="ar-AE">
                                <a:latin typeface="Cambria Math" panose="02040503050406030204" pitchFamily="18" charset="0"/>
                              </a:rPr>
                              <m:t>2</m:t>
                            </m:r>
                          </m:sub>
                        </m:sSub>
                      </m:e>
                    </m:d>
                    <m:r>
                      <a:rPr lang="ar-AE">
                        <a:latin typeface="Cambria Math" panose="02040503050406030204" pitchFamily="18" charset="0"/>
                      </a:rPr>
                      <m:t>=</m:t>
                    </m:r>
                    <m:r>
                      <a:rPr lang="ar-AE">
                        <a:latin typeface="Cambria Math" panose="02040503050406030204" pitchFamily="18" charset="0"/>
                      </a:rPr>
                      <m:t>𝜌</m:t>
                    </m:r>
                    <m:r>
                      <a:rPr lang="ar-AE">
                        <a:latin typeface="Cambria Math" panose="02040503050406030204" pitchFamily="18" charset="0"/>
                      </a:rPr>
                      <m:t>=0.8,</m:t>
                    </m:r>
                    <m:r>
                      <a:rPr lang="ar-AE">
                        <a:latin typeface="Cambria Math" panose="02040503050406030204" pitchFamily="18" charset="0"/>
                      </a:rPr>
                      <m:t>𝑐𝑜𝑣</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a:latin typeface="Cambria Math" panose="02040503050406030204" pitchFamily="18" charset="0"/>
                              </a:rPr>
                              <m:t>𝑋</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𝑋</m:t>
                            </m:r>
                          </m:e>
                          <m:sub>
                            <m:r>
                              <a:rPr lang="ar-AE">
                                <a:latin typeface="Cambria Math" panose="02040503050406030204" pitchFamily="18" charset="0"/>
                              </a:rPr>
                              <m:t>2</m:t>
                            </m:r>
                          </m:sub>
                        </m:sSub>
                      </m:e>
                    </m:d>
                    <m:r>
                      <a:rPr lang="ar-AE">
                        <a:latin typeface="Cambria Math" panose="02040503050406030204" pitchFamily="18" charset="0"/>
                      </a:rPr>
                      <m:t>=0.6196773</m:t>
                    </m:r>
                  </m:oMath>
                </a14:m>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926" t="-2239" b="-1119"/>
                </a:stretch>
              </a:blipFill>
            </p:spPr>
            <p:txBody>
              <a:bodyPr/>
              <a:lstStyle/>
              <a:p>
                <a:r>
                  <a:rPr lang="en-CN">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539A4-FBEF-8A8E-C5AA-3690B6EA1D31}"/>
              </a:ext>
            </a:extLst>
          </p:cNvPr>
          <p:cNvSpPr>
            <a:spLocks noGrp="1"/>
          </p:cNvSpPr>
          <p:nvPr>
            <p:ph type="title"/>
          </p:nvPr>
        </p:nvSpPr>
        <p:spPr/>
        <p:txBody>
          <a:bodyPr/>
          <a:lstStyle/>
          <a:p>
            <a:pPr algn="l"/>
            <a:r>
              <a:rPr lang="en-US" dirty="0"/>
              <a:t>Extension: Mis-specified model</a:t>
            </a:r>
            <a:endParaRPr lang="en-CN" dirty="0"/>
          </a:p>
        </p:txBody>
      </p:sp>
      <mc:AlternateContent xmlns:mc="http://schemas.openxmlformats.org/markup-compatibility/2006" xmlns:a14="http://schemas.microsoft.com/office/drawing/2010/main">
        <mc:Choice Requires="a14">
          <p:sp>
            <p:nvSpPr>
              <p:cNvPr id="21" name="Rectangle 1">
                <a:extLst>
                  <a:ext uri="{FF2B5EF4-FFF2-40B4-BE49-F238E27FC236}">
                    <a16:creationId xmlns:a16="http://schemas.microsoft.com/office/drawing/2014/main" id="{429AC12D-4917-71BC-5C5B-5E523C3D26F8}"/>
                  </a:ext>
                </a:extLst>
              </p:cNvPr>
              <p:cNvSpPr>
                <a:spLocks noChangeArrowheads="1"/>
              </p:cNvSpPr>
              <p:nvPr/>
            </p:nvSpPr>
            <p:spPr bwMode="auto">
              <a:xfrm>
                <a:off x="116379" y="1194696"/>
                <a:ext cx="3198455" cy="33239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kumimoji="0" lang="en-CN" altLang="en-CN" sz="1400" b="1" i="0" u="none" strike="noStrike" cap="none" normalizeH="0" baseline="0" dirty="0">
                    <a:ln>
                      <a:noFill/>
                    </a:ln>
                    <a:solidFill>
                      <a:schemeClr val="tx1"/>
                    </a:solidFill>
                    <a:effectLst/>
                  </a:rPr>
                  <a:t>Signal variable remain highly stable</a:t>
                </a:r>
                <a:br>
                  <a:rPr kumimoji="0" lang="en-CN" altLang="en-CN" sz="1400" b="0" i="0" u="none" strike="noStrike" cap="none" normalizeH="0" baseline="0" dirty="0">
                    <a:ln>
                      <a:noFill/>
                    </a:ln>
                    <a:solidFill>
                      <a:schemeClr val="tx1"/>
                    </a:solidFill>
                    <a:effectLst/>
                  </a:rPr>
                </a:br>
                <a:r>
                  <a:rPr kumimoji="0" lang="en-CN" altLang="en-CN" sz="1400" b="0" i="0" u="none" strike="noStrike" cap="none" normalizeH="0" baseline="0" dirty="0">
                    <a:ln>
                      <a:noFill/>
                    </a:ln>
                    <a:solidFill>
                      <a:schemeClr val="tx1"/>
                    </a:solidFill>
                    <a:effectLst/>
                  </a:rPr>
                  <a:t>Relevant</a:t>
                </a:r>
                <a:r>
                  <a:rPr kumimoji="0" lang="en-CN" altLang="en-CN" sz="1400" b="0" i="0" u="none" strike="noStrike" cap="none" normalizeH="0" dirty="0">
                    <a:ln>
                      <a:noFill/>
                    </a:ln>
                    <a:solidFill>
                      <a:schemeClr val="tx1"/>
                    </a:solidFill>
                    <a:effectLst/>
                  </a:rPr>
                  <a:t> variables </a:t>
                </a:r>
                <a:r>
                  <a:rPr kumimoji="0" lang="en-CN" altLang="en-CN" sz="1400" b="0" i="0" u="none" strike="noStrike" cap="none" normalizeH="0" baseline="0" dirty="0">
                    <a:ln>
                      <a:noFill/>
                    </a:ln>
                    <a:solidFill>
                      <a:schemeClr val="tx1"/>
                    </a:solidFill>
                    <a:effectLst/>
                  </a:rPr>
                  <a:t>show consistently high selection probabilities across </a:t>
                </a:r>
                <a14:m>
                  <m:oMath xmlns:m="http://schemas.openxmlformats.org/officeDocument/2006/math">
                    <m:r>
                      <m:rPr>
                        <m:sty m:val="p"/>
                      </m:rPr>
                      <a:rPr kumimoji="0" lang="en-US" altLang="en-CN" sz="1400" b="0" i="1" u="none" strike="noStrike" cap="none" normalizeH="0" baseline="0" smtClean="0">
                        <a:ln>
                          <a:noFill/>
                        </a:ln>
                        <a:solidFill>
                          <a:schemeClr val="tx1"/>
                        </a:solidFill>
                        <a:effectLst/>
                        <a:latin typeface="Cambria Math" panose="02040503050406030204" pitchFamily="18" charset="0"/>
                      </a:rPr>
                      <m:t>λ</m:t>
                    </m:r>
                  </m:oMath>
                </a14:m>
                <a:endParaRPr kumimoji="0" lang="en-US" altLang="en-CN" sz="1400" b="0" i="0" u="none" strike="noStrike" cap="none" normalizeH="0" baseline="0" dirty="0">
                  <a:ln>
                    <a:noFill/>
                  </a:ln>
                  <a:solidFill>
                    <a:schemeClr val="tx1"/>
                  </a:solidFill>
                  <a:effectLst/>
                </a:endParaRPr>
              </a:p>
              <a:p>
                <a:pPr lvl="0" defTabSz="914400" eaLnBrk="0" fontAlgn="base" hangingPunct="0">
                  <a:spcBef>
                    <a:spcPct val="0"/>
                  </a:spcBef>
                  <a:spcAft>
                    <a:spcPct val="0"/>
                  </a:spcAft>
                </a:pPr>
                <a:r>
                  <a:rPr kumimoji="0" lang="en-CN" altLang="en-CN" sz="1400" b="1" i="0" u="none" strike="noStrike" cap="none" normalizeH="0" baseline="0" dirty="0">
                    <a:ln>
                      <a:noFill/>
                    </a:ln>
                    <a:solidFill>
                      <a:schemeClr val="tx1"/>
                    </a:solidFill>
                    <a:effectLst/>
                  </a:rPr>
                  <a:t>High correlation show reduced stability</a:t>
                </a:r>
                <a:br>
                  <a:rPr kumimoji="0" lang="en-CN" altLang="en-CN" sz="1400" b="0" i="0" u="none" strike="noStrike" cap="none" normalizeH="0" baseline="0" dirty="0">
                    <a:ln>
                      <a:noFill/>
                    </a:ln>
                    <a:solidFill>
                      <a:schemeClr val="tx1"/>
                    </a:solidFill>
                    <a:effectLst/>
                  </a:rPr>
                </a:br>
                <a14:m>
                  <m:oMath xmlns:m="http://schemas.openxmlformats.org/officeDocument/2006/math">
                    <m:sSub>
                      <m:sSubPr>
                        <m:ctrlPr>
                          <a:rPr kumimoji="0" lang="en-US" altLang="en-CN" sz="1400" b="0" i="1" u="none" strike="noStrike" cap="none" normalizeH="0" baseline="0" smtClean="0">
                            <a:ln>
                              <a:noFill/>
                            </a:ln>
                            <a:solidFill>
                              <a:schemeClr val="tx1"/>
                            </a:solidFill>
                            <a:effectLst/>
                            <a:latin typeface="Cambria Math" panose="02040503050406030204" pitchFamily="18" charset="0"/>
                          </a:rPr>
                        </m:ctrlPr>
                      </m:sSubPr>
                      <m:e>
                        <m:r>
                          <a:rPr kumimoji="0" lang="en-US" altLang="en-CN" sz="1400" b="0" i="1" u="none" strike="noStrike" cap="none" normalizeH="0" baseline="0" smtClean="0">
                            <a:ln>
                              <a:noFill/>
                            </a:ln>
                            <a:solidFill>
                              <a:schemeClr val="tx1"/>
                            </a:solidFill>
                            <a:effectLst/>
                            <a:latin typeface="Cambria Math" panose="02040503050406030204" pitchFamily="18" charset="0"/>
                          </a:rPr>
                          <m:t>𝑋</m:t>
                        </m:r>
                      </m:e>
                      <m:sub>
                        <m:r>
                          <a:rPr kumimoji="0" lang="en-US" altLang="en-CN" sz="1400" b="0" i="1" u="none" strike="noStrike" cap="none" normalizeH="0" baseline="0" smtClean="0">
                            <a:ln>
                              <a:noFill/>
                            </a:ln>
                            <a:solidFill>
                              <a:schemeClr val="tx1"/>
                            </a:solidFill>
                            <a:effectLst/>
                            <a:latin typeface="Cambria Math" panose="02040503050406030204" pitchFamily="18" charset="0"/>
                          </a:rPr>
                          <m:t>2</m:t>
                        </m:r>
                      </m:sub>
                    </m:sSub>
                  </m:oMath>
                </a14:m>
                <a:r>
                  <a:rPr kumimoji="0" lang="en-CN" altLang="en-CN" sz="1400" b="0" i="0" u="none" strike="noStrike" cap="none" normalizeH="0" baseline="0" dirty="0">
                    <a:ln>
                      <a:noFill/>
                    </a:ln>
                    <a:solidFill>
                      <a:schemeClr val="tx1"/>
                    </a:solidFill>
                    <a:effectLst/>
                  </a:rPr>
                  <a:t> is less stable than </a:t>
                </a:r>
                <a14:m>
                  <m:oMath xmlns:m="http://schemas.openxmlformats.org/officeDocument/2006/math">
                    <m:sSub>
                      <m:sSubPr>
                        <m:ctrlPr>
                          <a:rPr kumimoji="0" lang="en-US" altLang="en-CN" sz="1400" b="0" i="1" u="none" strike="noStrike" cap="none" normalizeH="0" baseline="0" smtClean="0">
                            <a:ln>
                              <a:noFill/>
                            </a:ln>
                            <a:solidFill>
                              <a:schemeClr val="tx1"/>
                            </a:solidFill>
                            <a:effectLst/>
                            <a:latin typeface="Cambria Math" panose="02040503050406030204" pitchFamily="18" charset="0"/>
                          </a:rPr>
                        </m:ctrlPr>
                      </m:sSubPr>
                      <m:e>
                        <m:r>
                          <a:rPr kumimoji="0" lang="en-US" altLang="en-CN" sz="1400" b="0" i="1" u="none" strike="noStrike" cap="none" normalizeH="0" baseline="0" smtClean="0">
                            <a:ln>
                              <a:noFill/>
                            </a:ln>
                            <a:solidFill>
                              <a:schemeClr val="tx1"/>
                            </a:solidFill>
                            <a:effectLst/>
                            <a:latin typeface="Cambria Math" panose="02040503050406030204" pitchFamily="18" charset="0"/>
                          </a:rPr>
                          <m:t>𝑋</m:t>
                        </m:r>
                      </m:e>
                      <m:sub>
                        <m:r>
                          <a:rPr kumimoji="0" lang="en-US" altLang="en-CN" sz="1400" b="0" i="1" u="none" strike="noStrike" cap="none" normalizeH="0" baseline="0" smtClean="0">
                            <a:ln>
                              <a:noFill/>
                            </a:ln>
                            <a:solidFill>
                              <a:schemeClr val="tx1"/>
                            </a:solidFill>
                            <a:effectLst/>
                            <a:latin typeface="Cambria Math" panose="02040503050406030204" pitchFamily="18" charset="0"/>
                          </a:rPr>
                          <m:t>1</m:t>
                        </m:r>
                      </m:sub>
                    </m:sSub>
                  </m:oMath>
                </a14:m>
                <a:r>
                  <a:rPr kumimoji="0" lang="en-CN" altLang="en-CN" sz="1400" b="0" i="0" u="none" strike="noStrike" cap="none" normalizeH="0" baseline="0" dirty="0">
                    <a:ln>
                      <a:noFill/>
                    </a:ln>
                    <a:solidFill>
                      <a:schemeClr val="tx1"/>
                    </a:solidFill>
                    <a:effectLst/>
                  </a:rPr>
                  <a:t>, in which stays</a:t>
                </a:r>
                <a:r>
                  <a:rPr kumimoji="0" lang="en-CN" altLang="en-CN" sz="1400" b="0" i="0" u="none" strike="noStrike" cap="none" normalizeH="0" dirty="0">
                    <a:ln>
                      <a:noFill/>
                    </a:ln>
                    <a:solidFill>
                      <a:schemeClr val="tx1"/>
                    </a:solidFill>
                    <a:effectLst/>
                  </a:rPr>
                  <a:t> in </a:t>
                </a:r>
                <a:r>
                  <a:rPr kumimoji="0" lang="en-CN" altLang="en-CN" sz="1400" b="0" i="0" u="none" strike="noStrike" cap="none" normalizeH="0" baseline="0" dirty="0">
                    <a:ln>
                      <a:noFill/>
                    </a:ln>
                    <a:solidFill>
                      <a:schemeClr val="tx1"/>
                    </a:solidFill>
                    <a:effectLst/>
                  </a:rPr>
                  <a:t>mid-range stability paths</a:t>
                </a:r>
              </a:p>
              <a:p>
                <a:pPr lvl="0" defTabSz="914400" eaLnBrk="0" fontAlgn="base" hangingPunct="0">
                  <a:spcBef>
                    <a:spcPct val="0"/>
                  </a:spcBef>
                  <a:spcAft>
                    <a:spcPct val="0"/>
                  </a:spcAft>
                </a:pPr>
                <a:r>
                  <a:rPr kumimoji="0" lang="en-CN" altLang="en-CN" sz="1400" b="1" i="0" u="none" strike="noStrike" cap="none" normalizeH="0" baseline="0" dirty="0">
                    <a:ln>
                      <a:noFill/>
                    </a:ln>
                    <a:solidFill>
                      <a:schemeClr val="tx1"/>
                    </a:solidFill>
                    <a:effectLst/>
                  </a:rPr>
                  <a:t>Randomized Lasso is more stable</a:t>
                </a:r>
                <a:br>
                  <a:rPr kumimoji="0" lang="en-CN" altLang="en-CN" sz="1400" b="0" i="0" u="none" strike="noStrike" cap="none" normalizeH="0" baseline="0" dirty="0">
                    <a:ln>
                      <a:noFill/>
                    </a:ln>
                    <a:solidFill>
                      <a:schemeClr val="tx1"/>
                    </a:solidFill>
                    <a:effectLst/>
                  </a:rPr>
                </a:br>
                <a:r>
                  <a:rPr kumimoji="0" lang="en-CN" altLang="en-CN" sz="1400" b="0" i="0" u="none" strike="noStrike" cap="none" normalizeH="0" baseline="0" dirty="0">
                    <a:ln>
                      <a:noFill/>
                    </a:ln>
                    <a:solidFill>
                      <a:schemeClr val="tx1"/>
                    </a:solidFill>
                    <a:effectLst/>
                  </a:rPr>
                  <a:t>Selection probabilities are lower overall but more stable, increasing robustness of selected variables</a:t>
                </a:r>
              </a:p>
              <a:p>
                <a:pPr lvl="0" defTabSz="914400" eaLnBrk="0" fontAlgn="base" hangingPunct="0">
                  <a:spcBef>
                    <a:spcPct val="0"/>
                  </a:spcBef>
                  <a:spcAft>
                    <a:spcPct val="0"/>
                  </a:spcAft>
                </a:pPr>
                <a:r>
                  <a:rPr kumimoji="0" lang="en-CN" altLang="en-CN" sz="1400" b="1" i="0" u="none" strike="noStrike" cap="none" normalizeH="0" baseline="0" dirty="0">
                    <a:ln>
                      <a:noFill/>
                    </a:ln>
                    <a:solidFill>
                      <a:schemeClr val="tx1"/>
                    </a:solidFill>
                    <a:effectLst/>
                  </a:rPr>
                  <a:t>Noise variables stay near zero</a:t>
                </a:r>
                <a:br>
                  <a:rPr kumimoji="0" lang="en-CN" altLang="en-CN" sz="1400" b="0" i="0" u="none" strike="noStrike" cap="none" normalizeH="0" baseline="0" dirty="0">
                    <a:ln>
                      <a:noFill/>
                    </a:ln>
                    <a:solidFill>
                      <a:schemeClr val="tx1"/>
                    </a:solidFill>
                    <a:effectLst/>
                  </a:rPr>
                </a:br>
                <a:r>
                  <a:rPr kumimoji="0" lang="en-CN" altLang="en-CN" sz="1400" b="0" i="0" u="none" strike="noStrike" cap="none" normalizeH="0" baseline="0" dirty="0">
                    <a:ln>
                      <a:noFill/>
                    </a:ln>
                    <a:solidFill>
                      <a:schemeClr val="tx1"/>
                    </a:solidFill>
                    <a:effectLst/>
                  </a:rPr>
                  <a:t>Gray noise-variable paths shrink to π ≈ 0, showing that stability selection accurately select relevant predictors and effectively controls false positives.</a:t>
                </a:r>
              </a:p>
            </p:txBody>
          </p:sp>
        </mc:Choice>
        <mc:Fallback xmlns="">
          <p:sp>
            <p:nvSpPr>
              <p:cNvPr id="21" name="Rectangle 1">
                <a:extLst>
                  <a:ext uri="{FF2B5EF4-FFF2-40B4-BE49-F238E27FC236}">
                    <a16:creationId xmlns:a16="http://schemas.microsoft.com/office/drawing/2014/main" id="{429AC12D-4917-71BC-5C5B-5E523C3D26F8}"/>
                  </a:ext>
                </a:extLst>
              </p:cNvPr>
              <p:cNvSpPr>
                <a:spLocks noRot="1" noChangeAspect="1" noMove="1" noResize="1" noEditPoints="1" noAdjustHandles="1" noChangeArrowheads="1" noChangeShapeType="1" noTextEdit="1"/>
              </p:cNvSpPr>
              <p:nvPr/>
            </p:nvSpPr>
            <p:spPr bwMode="auto">
              <a:xfrm>
                <a:off x="116379" y="1194696"/>
                <a:ext cx="3198455" cy="3323987"/>
              </a:xfrm>
              <a:prstGeom prst="rect">
                <a:avLst/>
              </a:prstGeom>
              <a:blipFill>
                <a:blip r:embed="rId3"/>
                <a:stretch>
                  <a:fillRect l="-791" r="-791" b="-152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CN">
                    <a:noFill/>
                  </a:rPr>
                  <a:t> </a:t>
                </a:r>
              </a:p>
            </p:txBody>
          </p:sp>
        </mc:Fallback>
      </mc:AlternateContent>
      <p:pic>
        <p:nvPicPr>
          <p:cNvPr id="4" name="Picture 3" descr="A graph of colored lines&#10;&#10;AI-generated content may be incorrect.">
            <a:extLst>
              <a:ext uri="{FF2B5EF4-FFF2-40B4-BE49-F238E27FC236}">
                <a16:creationId xmlns:a16="http://schemas.microsoft.com/office/drawing/2014/main" id="{B0AB83DC-3CAA-DEC3-1D3F-16E4E42FE3C4}"/>
              </a:ext>
            </a:extLst>
          </p:cNvPr>
          <p:cNvPicPr>
            <a:picLocks noChangeAspect="1"/>
          </p:cNvPicPr>
          <p:nvPr/>
        </p:nvPicPr>
        <p:blipFill>
          <a:blip r:embed="rId4"/>
          <a:stretch>
            <a:fillRect/>
          </a:stretch>
        </p:blipFill>
        <p:spPr>
          <a:xfrm>
            <a:off x="6172468" y="1063229"/>
            <a:ext cx="3002917" cy="4003890"/>
          </a:xfrm>
          <a:prstGeom prst="rect">
            <a:avLst/>
          </a:prstGeom>
        </p:spPr>
      </p:pic>
      <p:pic>
        <p:nvPicPr>
          <p:cNvPr id="6" name="Picture 5" descr="A graph of different colored lines&#10;&#10;AI-generated content may be incorrect.">
            <a:extLst>
              <a:ext uri="{FF2B5EF4-FFF2-40B4-BE49-F238E27FC236}">
                <a16:creationId xmlns:a16="http://schemas.microsoft.com/office/drawing/2014/main" id="{AC8C99AC-929C-057F-6B75-B7D7D5F0BD3C}"/>
              </a:ext>
            </a:extLst>
          </p:cNvPr>
          <p:cNvPicPr>
            <a:picLocks noChangeAspect="1"/>
          </p:cNvPicPr>
          <p:nvPr/>
        </p:nvPicPr>
        <p:blipFill>
          <a:blip r:embed="rId5"/>
          <a:stretch>
            <a:fillRect/>
          </a:stretch>
        </p:blipFill>
        <p:spPr>
          <a:xfrm>
            <a:off x="3314834" y="1032445"/>
            <a:ext cx="3026005" cy="4034674"/>
          </a:xfrm>
          <a:prstGeom prst="rect">
            <a:avLst/>
          </a:prstGeom>
        </p:spPr>
      </p:pic>
    </p:spTree>
    <p:extLst>
      <p:ext uri="{BB962C8B-B14F-4D97-AF65-F5344CB8AC3E}">
        <p14:creationId xmlns:p14="http://schemas.microsoft.com/office/powerpoint/2010/main" val="899617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64EF5-73A1-DE12-6252-0D5D362083AE}"/>
              </a:ext>
            </a:extLst>
          </p:cNvPr>
          <p:cNvSpPr>
            <a:spLocks noGrp="1"/>
          </p:cNvSpPr>
          <p:nvPr>
            <p:ph type="title"/>
          </p:nvPr>
        </p:nvSpPr>
        <p:spPr/>
        <p:txBody>
          <a:bodyPr/>
          <a:lstStyle/>
          <a:p>
            <a:pPr algn="l"/>
            <a:r>
              <a:rPr lang="en-CN" dirty="0"/>
              <a:t>Selection Probabilities Comparison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278DD86-36F5-F914-357F-03444F7C7DC1}"/>
                  </a:ext>
                </a:extLst>
              </p:cNvPr>
              <p:cNvSpPr txBox="1"/>
              <p:nvPr/>
            </p:nvSpPr>
            <p:spPr>
              <a:xfrm>
                <a:off x="274320" y="4355069"/>
                <a:ext cx="8503920" cy="523220"/>
              </a:xfrm>
              <a:prstGeom prst="rect">
                <a:avLst/>
              </a:prstGeom>
              <a:noFill/>
            </p:spPr>
            <p:txBody>
              <a:bodyPr wrap="square">
                <a:spAutoFit/>
              </a:bodyPr>
              <a:lstStyle/>
              <a:p>
                <a:pPr marL="228600" indent="-228600">
                  <a:buAutoNum type="arabicParenR"/>
                </a:pPr>
                <a:r>
                  <a:rPr lang="en-US" sz="1400" dirty="0"/>
                  <a:t>Lasso stability selection path on correlated predictors; 2) Randomized Lasso stability path on correlated predictors with </a:t>
                </a:r>
                <a14:m>
                  <m:oMath xmlns:m="http://schemas.openxmlformats.org/officeDocument/2006/math">
                    <m:r>
                      <a:rPr lang="en-US" sz="1400" i="1" smtClean="0">
                        <a:latin typeface="Cambria Math" panose="02040503050406030204" pitchFamily="18" charset="0"/>
                        <a:ea typeface="Cambria Math" panose="02040503050406030204" pitchFamily="18" charset="0"/>
                      </a:rPr>
                      <m:t>𝛼</m:t>
                    </m:r>
                    <m:r>
                      <a:rPr lang="en-US" sz="1400" b="0" i="1" smtClean="0">
                        <a:latin typeface="Cambria Math" panose="02040503050406030204" pitchFamily="18" charset="0"/>
                        <a:ea typeface="Cambria Math" panose="02040503050406030204" pitchFamily="18" charset="0"/>
                      </a:rPr>
                      <m:t>=0.2</m:t>
                    </m:r>
                  </m:oMath>
                </a14:m>
                <a:endParaRPr lang="en-CN" sz="1400" dirty="0"/>
              </a:p>
            </p:txBody>
          </p:sp>
        </mc:Choice>
        <mc:Fallback xmlns="">
          <p:sp>
            <p:nvSpPr>
              <p:cNvPr id="15" name="TextBox 14">
                <a:extLst>
                  <a:ext uri="{FF2B5EF4-FFF2-40B4-BE49-F238E27FC236}">
                    <a16:creationId xmlns:a16="http://schemas.microsoft.com/office/drawing/2014/main" id="{8278DD86-36F5-F914-357F-03444F7C7DC1}"/>
                  </a:ext>
                </a:extLst>
              </p:cNvPr>
              <p:cNvSpPr txBox="1">
                <a:spLocks noRot="1" noChangeAspect="1" noMove="1" noResize="1" noEditPoints="1" noAdjustHandles="1" noChangeArrowheads="1" noChangeShapeType="1" noTextEdit="1"/>
              </p:cNvSpPr>
              <p:nvPr/>
            </p:nvSpPr>
            <p:spPr>
              <a:xfrm>
                <a:off x="274320" y="4355069"/>
                <a:ext cx="8503920" cy="523220"/>
              </a:xfrm>
              <a:prstGeom prst="rect">
                <a:avLst/>
              </a:prstGeom>
              <a:blipFill>
                <a:blip r:embed="rId4"/>
                <a:stretch>
                  <a:fillRect l="-149" b="-14286"/>
                </a:stretch>
              </a:blipFill>
            </p:spPr>
            <p:txBody>
              <a:bodyPr/>
              <a:lstStyle/>
              <a:p>
                <a:r>
                  <a:rPr lang="en-CN">
                    <a:noFill/>
                  </a:rPr>
                  <a:t> </a:t>
                </a:r>
              </a:p>
            </p:txBody>
          </p:sp>
        </mc:Fallback>
      </mc:AlternateContent>
      <p:pic>
        <p:nvPicPr>
          <p:cNvPr id="6" name="Content Placeholder 5" descr="A graph of a variety of graphs&#10;&#10;AI-generated content may be incorrect.">
            <a:extLst>
              <a:ext uri="{FF2B5EF4-FFF2-40B4-BE49-F238E27FC236}">
                <a16:creationId xmlns:a16="http://schemas.microsoft.com/office/drawing/2014/main" id="{8437A8B5-59DF-E676-3B93-2D74621EAB3C}"/>
              </a:ext>
            </a:extLst>
          </p:cNvPr>
          <p:cNvPicPr>
            <a:picLocks noGrp="1" noChangeAspect="1"/>
          </p:cNvPicPr>
          <p:nvPr>
            <p:ph idx="1"/>
          </p:nvPr>
        </p:nvPicPr>
        <p:blipFill>
          <a:blip r:embed="rId5"/>
          <a:stretch>
            <a:fillRect/>
          </a:stretch>
        </p:blipFill>
        <p:spPr>
          <a:xfrm>
            <a:off x="411480" y="925830"/>
            <a:ext cx="8229600" cy="3291840"/>
          </a:xfrm>
        </p:spPr>
      </p:pic>
    </p:spTree>
    <p:extLst>
      <p:ext uri="{BB962C8B-B14F-4D97-AF65-F5344CB8AC3E}">
        <p14:creationId xmlns:p14="http://schemas.microsoft.com/office/powerpoint/2010/main" val="2914992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91439" y="-107005"/>
                <a:ext cx="8229600" cy="857250"/>
              </a:xfrm>
            </p:spPr>
            <p:txBody>
              <a:bodyPr>
                <a:normAutofit fontScale="90000"/>
              </a:bodyPr>
              <a:lstStyle/>
              <a:p>
                <a:pPr marL="0" lvl="0" indent="0" algn="l">
                  <a:buNone/>
                </a:pPr>
                <a:r>
                  <a:rPr dirty="0"/>
                  <a:t>Correlation </a:t>
                </a:r>
                <a14:m>
                  <m:oMath xmlns:m="http://schemas.openxmlformats.org/officeDocument/2006/math">
                    <m:r>
                      <a:rPr>
                        <a:latin typeface="Cambria Math" panose="02040503050406030204" pitchFamily="18" charset="0"/>
                      </a:rPr>
                      <m:t>𝜌</m:t>
                    </m:r>
                  </m:oMath>
                </a14:m>
                <a:r>
                  <a:rPr dirty="0"/>
                  <a:t> effects on selection path and stability</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91439" y="-107005"/>
                <a:ext cx="8229600" cy="857250"/>
              </a:xfrm>
              <a:blipFill>
                <a:blip r:embed="rId3"/>
                <a:stretch>
                  <a:fillRect l="-1695" b="-289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1" name="Rectangle 1">
                <a:extLst>
                  <a:ext uri="{FF2B5EF4-FFF2-40B4-BE49-F238E27FC236}">
                    <a16:creationId xmlns:a16="http://schemas.microsoft.com/office/drawing/2014/main" id="{32349AB7-E06E-5C38-E80D-3B6CCAE138BA}"/>
                  </a:ext>
                </a:extLst>
              </p:cNvPr>
              <p:cNvSpPr>
                <a:spLocks noChangeArrowheads="1"/>
              </p:cNvSpPr>
              <p:nvPr/>
            </p:nvSpPr>
            <p:spPr bwMode="auto">
              <a:xfrm>
                <a:off x="6526424" y="750245"/>
                <a:ext cx="2334637" cy="301621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kumimoji="0" lang="en-CN" altLang="en-CN" sz="1000" b="1" i="0" u="none" strike="noStrike" cap="none" normalizeH="0" baseline="0" dirty="0">
                    <a:ln>
                      <a:noFill/>
                    </a:ln>
                    <a:solidFill>
                      <a:schemeClr val="tx1"/>
                    </a:solidFill>
                    <a:effectLst/>
                    <a:latin typeface="Arial" panose="020B0604020202020204" pitchFamily="34" charset="0"/>
                  </a:rPr>
                  <a:t>Standard Lasso strongly favors one predictor when correlation increases</a:t>
                </a:r>
                <a:br>
                  <a:rPr kumimoji="0" lang="en-CN" altLang="en-CN" sz="1000" b="0" i="0" u="none" strike="noStrike" cap="none" normalizeH="0" baseline="0" dirty="0">
                    <a:ln>
                      <a:noFill/>
                    </a:ln>
                    <a:solidFill>
                      <a:schemeClr val="tx1"/>
                    </a:solidFill>
                    <a:effectLst/>
                    <a:latin typeface="Arial" panose="020B0604020202020204" pitchFamily="34" charset="0"/>
                  </a:rPr>
                </a:br>
                <a:r>
                  <a:rPr kumimoji="0" lang="en-CN" altLang="en-CN" sz="1000" b="0" i="0" u="none" strike="noStrike" cap="none" normalizeH="0" baseline="0" dirty="0">
                    <a:ln>
                      <a:noFill/>
                    </a:ln>
                    <a:solidFill>
                      <a:schemeClr val="tx1"/>
                    </a:solidFill>
                    <a:effectLst/>
                    <a:latin typeface="Arial" panose="020B0604020202020204" pitchFamily="34" charset="0"/>
                  </a:rPr>
                  <a:t>As ρ → 1, </a:t>
                </a:r>
                <a14:m>
                  <m:oMath xmlns:m="http://schemas.openxmlformats.org/officeDocument/2006/math">
                    <m:sSub>
                      <m:sSubPr>
                        <m:ctrlPr>
                          <a:rPr kumimoji="0" lang="en-US" altLang="en-CN" sz="1000" b="0" i="1" u="none" strike="noStrike" cap="none" normalizeH="0" baseline="0" smtClean="0">
                            <a:ln>
                              <a:noFill/>
                            </a:ln>
                            <a:solidFill>
                              <a:schemeClr val="tx1"/>
                            </a:solidFill>
                            <a:effectLst/>
                            <a:latin typeface="Cambria Math" panose="02040503050406030204" pitchFamily="18" charset="0"/>
                          </a:rPr>
                        </m:ctrlPr>
                      </m:sSubPr>
                      <m:e>
                        <m:r>
                          <a:rPr kumimoji="0" lang="en-US" altLang="en-CN" sz="1000" b="0" i="1" u="none" strike="noStrike" cap="none" normalizeH="0" baseline="0" smtClean="0">
                            <a:ln>
                              <a:noFill/>
                            </a:ln>
                            <a:solidFill>
                              <a:schemeClr val="tx1"/>
                            </a:solidFill>
                            <a:effectLst/>
                            <a:latin typeface="Cambria Math" panose="02040503050406030204" pitchFamily="18" charset="0"/>
                          </a:rPr>
                          <m:t>𝑋</m:t>
                        </m:r>
                      </m:e>
                      <m:sub>
                        <m:r>
                          <a:rPr kumimoji="0" lang="en-US" altLang="zh-CN" sz="1000" b="0" i="1" u="none" strike="noStrike" cap="none" normalizeH="0" baseline="0" smtClean="0">
                            <a:ln>
                              <a:noFill/>
                            </a:ln>
                            <a:solidFill>
                              <a:schemeClr val="tx1"/>
                            </a:solidFill>
                            <a:effectLst/>
                            <a:latin typeface="Cambria Math" panose="02040503050406030204" pitchFamily="18" charset="0"/>
                          </a:rPr>
                          <m:t>2</m:t>
                        </m:r>
                      </m:sub>
                    </m:sSub>
                  </m:oMath>
                </a14:m>
                <a:r>
                  <a:rPr kumimoji="0" lang="en-CN" altLang="en-CN" sz="1000" b="0" i="0" u="none" strike="noStrike" cap="none" normalizeH="0" baseline="0" dirty="0">
                    <a:ln>
                      <a:noFill/>
                    </a:ln>
                    <a:solidFill>
                      <a:schemeClr val="tx1"/>
                    </a:solidFill>
                    <a:effectLst/>
                    <a:latin typeface="Arial" panose="020B0604020202020204" pitchFamily="34" charset="0"/>
                  </a:rPr>
                  <a:t>’s selection probability is less stable, showing standard Lasso</a:t>
                </a:r>
                <a:r>
                  <a:rPr kumimoji="0" lang="en-CN" altLang="en-CN" sz="1000" b="0" i="0" u="none" strike="noStrike" cap="none" normalizeH="0" dirty="0">
                    <a:ln>
                      <a:noFill/>
                    </a:ln>
                    <a:solidFill>
                      <a:schemeClr val="tx1"/>
                    </a:solidFill>
                    <a:effectLst/>
                    <a:latin typeface="Arial" panose="020B0604020202020204" pitchFamily="34" charset="0"/>
                  </a:rPr>
                  <a:t> tend</a:t>
                </a:r>
                <a:r>
                  <a:rPr kumimoji="0" lang="en-CN" altLang="en-CN" sz="1000" b="0" i="0" u="none" strike="noStrike" cap="none" normalizeH="0" baseline="0" dirty="0">
                    <a:ln>
                      <a:noFill/>
                    </a:ln>
                    <a:solidFill>
                      <a:schemeClr val="tx1"/>
                    </a:solidFill>
                    <a:effectLst/>
                    <a:latin typeface="Arial" panose="020B0604020202020204" pitchFamily="34" charset="0"/>
                  </a:rPr>
                  <a:t> to pick only one variable in a correlated pair.</a:t>
                </a:r>
              </a:p>
              <a:p>
                <a:pPr lvl="0" defTabSz="914400" eaLnBrk="0" fontAlgn="base" hangingPunct="0">
                  <a:spcBef>
                    <a:spcPct val="0"/>
                  </a:spcBef>
                  <a:spcAft>
                    <a:spcPct val="0"/>
                  </a:spcAft>
                </a:pPr>
                <a:r>
                  <a:rPr kumimoji="0" lang="en-CN" altLang="en-CN" sz="1000" b="1" i="0" u="none" strike="noStrike" cap="none" normalizeH="0" baseline="0" dirty="0">
                    <a:ln>
                      <a:noFill/>
                    </a:ln>
                    <a:solidFill>
                      <a:schemeClr val="tx1"/>
                    </a:solidFill>
                    <a:effectLst/>
                    <a:latin typeface="Arial" panose="020B0604020202020204" pitchFamily="34" charset="0"/>
                  </a:rPr>
                  <a:t>Randomized Lasso equalizes selection probabilities across correlated predictors</a:t>
                </a:r>
                <a:br>
                  <a:rPr kumimoji="0" lang="en-CN" altLang="en-CN" sz="1000" b="0" i="0" u="none" strike="noStrike" cap="none" normalizeH="0" baseline="0" dirty="0">
                    <a:ln>
                      <a:noFill/>
                    </a:ln>
                    <a:solidFill>
                      <a:schemeClr val="tx1"/>
                    </a:solidFill>
                    <a:effectLst/>
                    <a:latin typeface="Arial" panose="020B0604020202020204" pitchFamily="34" charset="0"/>
                  </a:rPr>
                </a:br>
                <a:r>
                  <a:rPr kumimoji="0" lang="en-CN" altLang="en-CN" sz="1000" b="0" i="0" u="none" strike="noStrike" cap="none" normalizeH="0" baseline="0" dirty="0">
                    <a:ln>
                      <a:noFill/>
                    </a:ln>
                    <a:solidFill>
                      <a:schemeClr val="tx1"/>
                    </a:solidFill>
                    <a:effectLst/>
                    <a:latin typeface="Arial" panose="020B0604020202020204" pitchFamily="34" charset="0"/>
                  </a:rPr>
                  <a:t>In all ρ settings, </a:t>
                </a:r>
                <a:r>
                  <a:rPr kumimoji="0" lang="en-US" altLang="en-CN" sz="1000" b="0" i="0" u="none" strike="noStrike" cap="none" normalizeH="0" baseline="0" dirty="0">
                    <a:ln>
                      <a:noFill/>
                    </a:ln>
                    <a:solidFill>
                      <a:schemeClr val="tx1"/>
                    </a:solidFill>
                    <a:effectLst/>
                    <a:latin typeface="Arial" panose="020B0604020202020204" pitchFamily="34" charset="0"/>
                  </a:rPr>
                  <a:t>the gap betwe</a:t>
                </a:r>
                <a:r>
                  <a:rPr lang="en-US" altLang="en-CN" sz="1000" dirty="0">
                    <a:latin typeface="Arial" panose="020B0604020202020204" pitchFamily="34" charset="0"/>
                  </a:rPr>
                  <a:t>en selection probabilities significantly reduces</a:t>
                </a:r>
              </a:p>
              <a:p>
                <a:pPr lvl="0" defTabSz="914400" eaLnBrk="0" fontAlgn="base" hangingPunct="0">
                  <a:spcBef>
                    <a:spcPct val="0"/>
                  </a:spcBef>
                  <a:spcAft>
                    <a:spcPct val="0"/>
                  </a:spcAft>
                </a:pPr>
                <a:r>
                  <a:rPr lang="en-US" altLang="en-CN" sz="1000" b="1" dirty="0">
                    <a:latin typeface="Arial" panose="020B0604020202020204" pitchFamily="34" charset="0"/>
                  </a:rPr>
                  <a:t>Trade-off between correlated variables</a:t>
                </a:r>
                <a:endParaRPr lang="en-US" altLang="en-CN" sz="1000" dirty="0">
                  <a:latin typeface="Arial" panose="020B0604020202020204" pitchFamily="34" charset="0"/>
                </a:endParaRPr>
              </a:p>
              <a:p>
                <a:pPr lvl="0" defTabSz="914400" eaLnBrk="0" fontAlgn="base" hangingPunct="0">
                  <a:spcBef>
                    <a:spcPct val="0"/>
                  </a:spcBef>
                  <a:spcAft>
                    <a:spcPct val="0"/>
                  </a:spcAft>
                </a:pPr>
                <a:r>
                  <a:rPr lang="en-US" sz="1000" dirty="0"/>
                  <a:t>Large </a:t>
                </a:r>
                <a14:m>
                  <m:oMath xmlns:m="http://schemas.openxmlformats.org/officeDocument/2006/math">
                    <m:r>
                      <a:rPr lang="en-US" sz="1000" b="0" i="1" smtClean="0">
                        <a:latin typeface="Cambria Math" panose="02040503050406030204" pitchFamily="18" charset="0"/>
                      </a:rPr>
                      <m:t>𝜌</m:t>
                    </m:r>
                    <m:r>
                      <a:rPr lang="en-US" sz="1000" b="0" i="1" smtClean="0">
                        <a:latin typeface="Cambria Math" panose="02040503050406030204" pitchFamily="18" charset="0"/>
                      </a:rPr>
                      <m:t> </m:t>
                    </m:r>
                  </m:oMath>
                </a14:m>
                <a:r>
                  <a:rPr lang="en-US" sz="1000" dirty="0"/>
                  <a:t>forces randomized lasso into a competitive selection regime: the model commits to only one of them, reducing the other’s selection probability.</a:t>
                </a:r>
                <a:endParaRPr kumimoji="0" lang="en-CN" altLang="en-CN" sz="1000" b="0" i="0" u="none" strike="noStrike" cap="none" normalizeH="0" baseline="0" dirty="0">
                  <a:ln>
                    <a:noFill/>
                  </a:ln>
                  <a:solidFill>
                    <a:schemeClr val="tx1"/>
                  </a:solidFill>
                  <a:effectLst/>
                  <a:latin typeface="Arial" panose="020B0604020202020204" pitchFamily="34" charset="0"/>
                </a:endParaRPr>
              </a:p>
            </p:txBody>
          </p:sp>
        </mc:Choice>
        <mc:Fallback xmlns="">
          <p:sp>
            <p:nvSpPr>
              <p:cNvPr id="11" name="Rectangle 1">
                <a:extLst>
                  <a:ext uri="{FF2B5EF4-FFF2-40B4-BE49-F238E27FC236}">
                    <a16:creationId xmlns:a16="http://schemas.microsoft.com/office/drawing/2014/main" id="{32349AB7-E06E-5C38-E80D-3B6CCAE138BA}"/>
                  </a:ext>
                </a:extLst>
              </p:cNvPr>
              <p:cNvSpPr>
                <a:spLocks noRot="1" noChangeAspect="1" noMove="1" noResize="1" noEditPoints="1" noAdjustHandles="1" noChangeArrowheads="1" noChangeShapeType="1" noTextEdit="1"/>
              </p:cNvSpPr>
              <p:nvPr/>
            </p:nvSpPr>
            <p:spPr bwMode="auto">
              <a:xfrm>
                <a:off x="6526424" y="750245"/>
                <a:ext cx="2334637" cy="3016210"/>
              </a:xfrm>
              <a:prstGeom prst="rect">
                <a:avLst/>
              </a:prstGeom>
              <a:blipFill>
                <a:blip r:embed="rId4"/>
                <a:stretch>
                  <a:fillRect b="-84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CN">
                    <a:noFill/>
                  </a:rPr>
                  <a:t> </a:t>
                </a:r>
              </a:p>
            </p:txBody>
          </p:sp>
        </mc:Fallback>
      </mc:AlternateContent>
      <p:pic>
        <p:nvPicPr>
          <p:cNvPr id="8" name="Picture 7">
            <a:extLst>
              <a:ext uri="{FF2B5EF4-FFF2-40B4-BE49-F238E27FC236}">
                <a16:creationId xmlns:a16="http://schemas.microsoft.com/office/drawing/2014/main" id="{B784A6E9-183E-3F6D-AFB8-603A19B96951}"/>
              </a:ext>
            </a:extLst>
          </p:cNvPr>
          <p:cNvPicPr>
            <a:picLocks noChangeAspect="1"/>
          </p:cNvPicPr>
          <p:nvPr/>
        </p:nvPicPr>
        <p:blipFill>
          <a:blip r:embed="rId5"/>
          <a:stretch>
            <a:fillRect/>
          </a:stretch>
        </p:blipFill>
        <p:spPr>
          <a:xfrm>
            <a:off x="631461" y="535586"/>
            <a:ext cx="5529497" cy="460791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888" y="-10668"/>
            <a:ext cx="8229600" cy="857250"/>
          </a:xfrm>
        </p:spPr>
        <p:txBody>
          <a:bodyPr>
            <a:noAutofit/>
          </a:bodyPr>
          <a:lstStyle/>
          <a:p>
            <a:pPr marL="0" lvl="0" indent="0" algn="l">
              <a:buNone/>
            </a:pPr>
            <a:r>
              <a:rPr lang="en-US" sz="2700" dirty="0"/>
              <a:t>Variance magnitude effects on selection path and stability</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FEA64E5-DD04-6D38-2D06-E32A8B0D4BC7}"/>
                  </a:ext>
                </a:extLst>
              </p:cNvPr>
              <p:cNvSpPr txBox="1"/>
              <p:nvPr/>
            </p:nvSpPr>
            <p:spPr>
              <a:xfrm>
                <a:off x="6755687" y="704637"/>
                <a:ext cx="1524585" cy="54566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𝑅𝑎𝑡𝑖𝑜</m:t>
                      </m:r>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𝑣𝑎𝑟</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1</m:t>
                                  </m:r>
                                </m:sub>
                              </m:sSub>
                            </m:e>
                          </m:d>
                        </m:num>
                        <m:den>
                          <m:r>
                            <a:rPr lang="en-US" sz="1400" b="0" i="1" smtClean="0">
                              <a:latin typeface="Cambria Math" panose="02040503050406030204" pitchFamily="18" charset="0"/>
                            </a:rPr>
                            <m:t>𝑣𝑎𝑟</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2</m:t>
                                  </m:r>
                                </m:sub>
                              </m:sSub>
                            </m:e>
                          </m:d>
                        </m:den>
                      </m:f>
                    </m:oMath>
                  </m:oMathPara>
                </a14:m>
                <a:endParaRPr lang="en-CN" sz="1400" dirty="0"/>
              </a:p>
            </p:txBody>
          </p:sp>
        </mc:Choice>
        <mc:Fallback xmlns="">
          <p:sp>
            <p:nvSpPr>
              <p:cNvPr id="7" name="TextBox 6">
                <a:extLst>
                  <a:ext uri="{FF2B5EF4-FFF2-40B4-BE49-F238E27FC236}">
                    <a16:creationId xmlns:a16="http://schemas.microsoft.com/office/drawing/2014/main" id="{DFEA64E5-DD04-6D38-2D06-E32A8B0D4BC7}"/>
                  </a:ext>
                </a:extLst>
              </p:cNvPr>
              <p:cNvSpPr txBox="1">
                <a:spLocks noRot="1" noChangeAspect="1" noMove="1" noResize="1" noEditPoints="1" noAdjustHandles="1" noChangeArrowheads="1" noChangeShapeType="1" noTextEdit="1"/>
              </p:cNvSpPr>
              <p:nvPr/>
            </p:nvSpPr>
            <p:spPr>
              <a:xfrm>
                <a:off x="6755687" y="704637"/>
                <a:ext cx="1524585" cy="545662"/>
              </a:xfrm>
              <a:prstGeom prst="rect">
                <a:avLst/>
              </a:prstGeom>
              <a:blipFill>
                <a:blip r:embed="rId3"/>
                <a:stretch>
                  <a:fillRect/>
                </a:stretch>
              </a:blipFill>
            </p:spPr>
            <p:txBody>
              <a:bodyPr/>
              <a:lstStyle/>
              <a:p>
                <a:r>
                  <a:rPr lang="en-CN">
                    <a:noFill/>
                  </a:rPr>
                  <a:t> </a:t>
                </a:r>
              </a:p>
            </p:txBody>
          </p:sp>
        </mc:Fallback>
      </mc:AlternateContent>
      <p:pic>
        <p:nvPicPr>
          <p:cNvPr id="4" name="Picture 3">
            <a:extLst>
              <a:ext uri="{FF2B5EF4-FFF2-40B4-BE49-F238E27FC236}">
                <a16:creationId xmlns:a16="http://schemas.microsoft.com/office/drawing/2014/main" id="{73380CF7-139F-A932-F67A-4C3F4C5CFCF4}"/>
              </a:ext>
            </a:extLst>
          </p:cNvPr>
          <p:cNvPicPr>
            <a:picLocks noChangeAspect="1"/>
          </p:cNvPicPr>
          <p:nvPr/>
        </p:nvPicPr>
        <p:blipFill>
          <a:blip r:embed="rId4"/>
          <a:stretch>
            <a:fillRect/>
          </a:stretch>
        </p:blipFill>
        <p:spPr>
          <a:xfrm>
            <a:off x="117069" y="681990"/>
            <a:ext cx="6445377" cy="4296918"/>
          </a:xfrm>
          <a:prstGeom prst="rect">
            <a:avLst/>
          </a:prstGeom>
        </p:spPr>
      </p:pic>
      <mc:AlternateContent xmlns:mc="http://schemas.openxmlformats.org/markup-compatibility/2006" xmlns:a14="http://schemas.microsoft.com/office/drawing/2010/main">
        <mc:Choice Requires="a14">
          <p:sp>
            <p:nvSpPr>
              <p:cNvPr id="8" name="Rectangle 2">
                <a:extLst>
                  <a:ext uri="{FF2B5EF4-FFF2-40B4-BE49-F238E27FC236}">
                    <a16:creationId xmlns:a16="http://schemas.microsoft.com/office/drawing/2014/main" id="{961F6A6E-2E53-0ADD-2AAD-62D9785A2E5E}"/>
                  </a:ext>
                </a:extLst>
              </p:cNvPr>
              <p:cNvSpPr>
                <a:spLocks noChangeArrowheads="1"/>
              </p:cNvSpPr>
              <p:nvPr/>
            </p:nvSpPr>
            <p:spPr bwMode="auto">
              <a:xfrm>
                <a:off x="6746593" y="1250299"/>
                <a:ext cx="1973766" cy="270843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CN" altLang="en-CN" sz="1000" b="1" i="0" u="none" strike="noStrike" cap="none" normalizeH="0" baseline="0" dirty="0">
                    <a:ln>
                      <a:noFill/>
                    </a:ln>
                    <a:solidFill>
                      <a:schemeClr val="tx1"/>
                    </a:solidFill>
                    <a:effectLst/>
                    <a:latin typeface="Arial" panose="020B0604020202020204" pitchFamily="34" charset="0"/>
                  </a:rPr>
                  <a:t>As correlation ρ increases, the selection probability </a:t>
                </a:r>
                <a:r>
                  <a:rPr kumimoji="0" lang="en-CN" altLang="en-CN" sz="1000" b="1" i="1" u="none" strike="noStrike" cap="none" normalizeH="0" baseline="0" dirty="0">
                    <a:ln>
                      <a:noFill/>
                    </a:ln>
                    <a:solidFill>
                      <a:schemeClr val="tx1"/>
                    </a:solidFill>
                    <a:effectLst/>
                    <a:latin typeface="Arial" panose="020B0604020202020204" pitchFamily="34" charset="0"/>
                  </a:rPr>
                  <a:t>becomes less stable</a:t>
                </a:r>
                <a:endParaRPr lang="en-CN" altLang="en-CN" sz="10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CN" altLang="en-CN" sz="1000" b="0" i="0" u="none" strike="noStrike" cap="none" normalizeH="0" baseline="0" dirty="0">
                    <a:ln>
                      <a:noFill/>
                    </a:ln>
                    <a:solidFill>
                      <a:schemeClr val="tx1"/>
                    </a:solidFill>
                    <a:effectLst/>
                    <a:latin typeface="Arial" panose="020B0604020202020204" pitchFamily="34" charset="0"/>
                  </a:rPr>
                  <a:t>The model becomes less certain about which variable to choose even though they are relevant</a:t>
                </a:r>
              </a:p>
              <a:p>
                <a:pPr marL="0" marR="0" lvl="0" indent="0" algn="l" defTabSz="914400" rtl="0" eaLnBrk="0" fontAlgn="base" latinLnBrk="0" hangingPunct="0">
                  <a:lnSpc>
                    <a:spcPct val="100000"/>
                  </a:lnSpc>
                  <a:spcBef>
                    <a:spcPct val="0"/>
                  </a:spcBef>
                  <a:spcAft>
                    <a:spcPct val="0"/>
                  </a:spcAft>
                  <a:buClrTx/>
                  <a:buSzTx/>
                  <a:tabLst/>
                </a:pPr>
                <a:r>
                  <a:rPr kumimoji="0" lang="en-CN" altLang="en-CN" sz="1000" b="1" i="0" u="none" strike="noStrike" cap="none" normalizeH="0" baseline="0" dirty="0">
                    <a:ln>
                      <a:noFill/>
                    </a:ln>
                    <a:solidFill>
                      <a:schemeClr val="tx1"/>
                    </a:solidFill>
                    <a:effectLst/>
                    <a:latin typeface="Arial" panose="020B0604020202020204" pitchFamily="34" charset="0"/>
                  </a:rPr>
                  <a:t>The predictor with larger variance tends to dominate under standard lasso</a:t>
                </a:r>
              </a:p>
              <a:p>
                <a:pPr marL="0" marR="0" lvl="0" indent="0" algn="l" defTabSz="914400" rtl="0" eaLnBrk="0" fontAlgn="base" latinLnBrk="0" hangingPunct="0">
                  <a:lnSpc>
                    <a:spcPct val="100000"/>
                  </a:lnSpc>
                  <a:spcBef>
                    <a:spcPct val="0"/>
                  </a:spcBef>
                  <a:spcAft>
                    <a:spcPct val="0"/>
                  </a:spcAft>
                  <a:buClrTx/>
                  <a:buSzTx/>
                  <a:tabLst/>
                </a:pPr>
                <a14:m>
                  <m:oMath xmlns:m="http://schemas.openxmlformats.org/officeDocument/2006/math">
                    <m:sSub>
                      <m:sSubPr>
                        <m:ctrlPr>
                          <a:rPr kumimoji="0" lang="en-US" altLang="en-CN" sz="1000" b="0" i="1" u="none" strike="noStrike" cap="none" normalizeH="0" baseline="0" smtClean="0">
                            <a:ln>
                              <a:noFill/>
                            </a:ln>
                            <a:solidFill>
                              <a:schemeClr val="tx1"/>
                            </a:solidFill>
                            <a:effectLst/>
                            <a:latin typeface="Cambria Math" panose="02040503050406030204" pitchFamily="18" charset="0"/>
                          </a:rPr>
                        </m:ctrlPr>
                      </m:sSubPr>
                      <m:e>
                        <m:r>
                          <a:rPr kumimoji="0" lang="en-US" altLang="en-CN" sz="1000" b="0" i="1" u="none" strike="noStrike" cap="none" normalizeH="0" baseline="0" smtClean="0">
                            <a:ln>
                              <a:noFill/>
                            </a:ln>
                            <a:solidFill>
                              <a:schemeClr val="tx1"/>
                            </a:solidFill>
                            <a:effectLst/>
                            <a:latin typeface="Cambria Math" panose="02040503050406030204" pitchFamily="18" charset="0"/>
                          </a:rPr>
                          <m:t>𝑋</m:t>
                        </m:r>
                      </m:e>
                      <m:sub>
                        <m:r>
                          <a:rPr kumimoji="0" lang="en-US" altLang="en-CN" sz="1000" b="0" i="1" u="none" strike="noStrike" cap="none" normalizeH="0" baseline="0" smtClean="0">
                            <a:ln>
                              <a:noFill/>
                            </a:ln>
                            <a:solidFill>
                              <a:schemeClr val="tx1"/>
                            </a:solidFill>
                            <a:effectLst/>
                            <a:latin typeface="Cambria Math" panose="02040503050406030204" pitchFamily="18" charset="0"/>
                          </a:rPr>
                          <m:t>1</m:t>
                        </m:r>
                      </m:sub>
                    </m:sSub>
                  </m:oMath>
                </a14:m>
                <a:r>
                  <a:rPr kumimoji="0" lang="en-US" altLang="en-CN" sz="1000" b="0" i="0" u="none" strike="noStrike" cap="none" normalizeH="0" baseline="0" dirty="0">
                    <a:ln>
                      <a:noFill/>
                    </a:ln>
                    <a:solidFill>
                      <a:schemeClr val="tx1"/>
                    </a:solidFill>
                    <a:effectLst/>
                    <a:latin typeface="Arial" panose="020B0604020202020204" pitchFamily="34" charset="0"/>
                  </a:rPr>
                  <a:t> is selected more consistently</a:t>
                </a:r>
                <a:endParaRPr kumimoji="0" lang="en-CN" altLang="en-CN" sz="10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CN" altLang="en-CN" sz="1000" b="1" i="0" u="none" strike="noStrike" cap="none" normalizeH="0" baseline="0" dirty="0">
                    <a:ln>
                      <a:noFill/>
                    </a:ln>
                    <a:solidFill>
                      <a:schemeClr val="tx1"/>
                    </a:solidFill>
                    <a:effectLst/>
                    <a:latin typeface="Arial" panose="020B0604020202020204" pitchFamily="34" charset="0"/>
                  </a:rPr>
                  <a:t>Randomized Lasso alleviate the variance differences </a:t>
                </a:r>
                <a:r>
                  <a:rPr kumimoji="0" lang="en-CN" altLang="en-CN" sz="1000" b="0" i="0" u="none" strike="noStrike" cap="none" normalizeH="0" baseline="0" dirty="0">
                    <a:ln>
                      <a:noFill/>
                    </a:ln>
                    <a:solidFill>
                      <a:schemeClr val="tx1"/>
                    </a:solidFill>
                    <a:effectLst/>
                    <a:latin typeface="Arial" panose="020B0604020202020204" pitchFamily="34" charset="0"/>
                  </a:rPr>
                  <a:t>X₁ As ρ grows, reducing the variance-domination effect and producing more stable, less biased selection</a:t>
                </a:r>
              </a:p>
            </p:txBody>
          </p:sp>
        </mc:Choice>
        <mc:Fallback xmlns="">
          <p:sp>
            <p:nvSpPr>
              <p:cNvPr id="8" name="Rectangle 2">
                <a:extLst>
                  <a:ext uri="{FF2B5EF4-FFF2-40B4-BE49-F238E27FC236}">
                    <a16:creationId xmlns:a16="http://schemas.microsoft.com/office/drawing/2014/main" id="{961F6A6E-2E53-0ADD-2AAD-62D9785A2E5E}"/>
                  </a:ext>
                </a:extLst>
              </p:cNvPr>
              <p:cNvSpPr>
                <a:spLocks noRot="1" noChangeAspect="1" noMove="1" noResize="1" noEditPoints="1" noAdjustHandles="1" noChangeArrowheads="1" noChangeShapeType="1" noTextEdit="1"/>
              </p:cNvSpPr>
              <p:nvPr/>
            </p:nvSpPr>
            <p:spPr bwMode="auto">
              <a:xfrm>
                <a:off x="6746593" y="1250299"/>
                <a:ext cx="1973766" cy="2708434"/>
              </a:xfrm>
              <a:prstGeom prst="rect">
                <a:avLst/>
              </a:prstGeom>
              <a:blipFill>
                <a:blip r:embed="rId5"/>
                <a:stretch>
                  <a:fillRect b="-93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CN">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lgn="l">
              <a:buNone/>
            </a:pPr>
            <a:r>
              <a:rPr dirty="0"/>
              <a:t>Limitations</a:t>
            </a:r>
          </a:p>
        </p:txBody>
      </p:sp>
      <p:sp>
        <p:nvSpPr>
          <p:cNvPr id="3" name="Content Placeholder 2"/>
          <p:cNvSpPr>
            <a:spLocks noGrp="1"/>
          </p:cNvSpPr>
          <p:nvPr>
            <p:ph idx="1"/>
          </p:nvPr>
        </p:nvSpPr>
        <p:spPr/>
        <p:txBody>
          <a:bodyPr/>
          <a:lstStyle/>
          <a:p>
            <a:pPr lvl="0"/>
            <a:r>
              <a:rPr dirty="0"/>
              <a:t>Computationally expensive due to repeated model fitting</a:t>
            </a:r>
          </a:p>
          <a:p>
            <a:pPr lvl="0"/>
            <a:r>
              <a:rPr dirty="0"/>
              <a:t>Weak signals may not exceed the threshold probabilities</a:t>
            </a:r>
          </a:p>
          <a:p>
            <a:pPr lvl="0"/>
            <a:r>
              <a:rPr dirty="0"/>
              <a:t>Assumption of exchangeability, violation lead to bias selection probabilities</a:t>
            </a:r>
          </a:p>
          <a:p>
            <a:pPr lvl="0"/>
            <a:r>
              <a:rPr dirty="0"/>
              <a:t>Standard Lasso struggles on correlated predictors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1133</TotalTime>
  <Words>986</Words>
  <Application>Microsoft Macintosh PowerPoint</Application>
  <PresentationFormat>On-screen Show (16:9)</PresentationFormat>
  <Paragraphs>100</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Calibri</vt:lpstr>
      <vt:lpstr>Cambria Math</vt:lpstr>
      <vt:lpstr>Office Theme</vt:lpstr>
      <vt:lpstr>Stability Selection in High-Dimensional Data</vt:lpstr>
      <vt:lpstr>Motivation</vt:lpstr>
      <vt:lpstr>Motivation</vt:lpstr>
      <vt:lpstr>Procedure</vt:lpstr>
      <vt:lpstr>Procedure</vt:lpstr>
      <vt:lpstr>Procedure</vt:lpstr>
      <vt:lpstr>Application: Riboflavin Gene Expression Dataset</vt:lpstr>
      <vt:lpstr>Application: Riboflavin Gene Expression Dataset</vt:lpstr>
      <vt:lpstr>Extension: Mis-specified model</vt:lpstr>
      <vt:lpstr>Extension: Mis-specified model</vt:lpstr>
      <vt:lpstr>Selection Probabilities Comparison</vt:lpstr>
      <vt:lpstr>Correlation ρ effects on selection path and stability</vt:lpstr>
      <vt:lpstr>Variance magnitude effects on selection path and stability</vt:lpstr>
      <vt:lpstr>Limitations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Stability Selection in High-Dimensional Data as a accurate and stable variable selection technique</dc:title>
  <dc:creator>Jinglin Yang</dc:creator>
  <cp:keywords/>
  <cp:lastModifiedBy>Jinglin Yang</cp:lastModifiedBy>
  <cp:revision>10</cp:revision>
  <dcterms:created xsi:type="dcterms:W3CDTF">2025-12-07T22:38:19Z</dcterms:created>
  <dcterms:modified xsi:type="dcterms:W3CDTF">2025-12-09T09:26:53Z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visual</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oc-title">
    <vt:lpwstr>Table of contents</vt:lpwstr>
  </property>
</Properties>
</file>